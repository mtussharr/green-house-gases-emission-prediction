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65" r:id="rId1"/>
  </p:sldMasterIdLst>
  <p:sldIdLst>
    <p:sldId id="256" r:id="rId2"/>
    <p:sldId id="257" r:id="rId3"/>
    <p:sldId id="258" r:id="rId4"/>
    <p:sldId id="259" r:id="rId5"/>
    <p:sldId id="265" r:id="rId6"/>
    <p:sldId id="260" r:id="rId7"/>
    <p:sldId id="261" r:id="rId8"/>
    <p:sldId id="263" r:id="rId9"/>
    <p:sldId id="266" r:id="rId10"/>
    <p:sldId id="267" r:id="rId11"/>
    <p:sldId id="264" r:id="rId12"/>
    <p:sldId id="262" r:id="rId13"/>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792">
          <p15:clr>
            <a:srgbClr val="A4A3A4"/>
          </p15:clr>
        </p15:guide>
        <p15:guide id="2" pos="192">
          <p15:clr>
            <a:srgbClr val="A4A3A4"/>
          </p15:clr>
        </p15:guide>
        <p15:guide id="3" orient="horz" pos="1080">
          <p15:clr>
            <a:srgbClr val="A4A3A4"/>
          </p15:clr>
        </p15:guide>
      </p15:sldGuideLst>
    </p:ext>
    <p:ext uri="http://customooxmlschemas.google.com/">
      <go:slidesCustomData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go="http://customooxmlschemas.google.com/" xmlns="" r:id="rId220" roundtripDataSignature="AMtx7miWNY2LB4ETJwrL8F0N+EK9hEhqUQ=="/>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213163"/>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000" autoAdjust="0"/>
    <p:restoredTop sz="94660"/>
  </p:normalViewPr>
  <p:slideViewPr>
    <p:cSldViewPr snapToGrid="0">
      <p:cViewPr varScale="1">
        <p:scale>
          <a:sx n="89" d="100"/>
          <a:sy n="89" d="100"/>
        </p:scale>
        <p:origin x="466" y="72"/>
      </p:cViewPr>
      <p:guideLst>
        <p:guide orient="horz" pos="792"/>
        <p:guide pos="192"/>
        <p:guide orient="horz" pos="10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3" Type="http://schemas.openxmlformats.org/officeDocument/2006/relationships/slide" Target="slides/slide2.xml"/><Relationship Id="rId222"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2" Type="http://schemas.openxmlformats.org/officeDocument/2006/relationships/slide" Target="slides/slide1.xml"/><Relationship Id="rId221"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20" Type="http://customschemas.google.com/relationships/presentationmetadata" Target="metadata"/><Relationship Id="rId5" Type="http://schemas.openxmlformats.org/officeDocument/2006/relationships/slide" Target="slides/slide4.xml"/><Relationship Id="rId10" Type="http://schemas.openxmlformats.org/officeDocument/2006/relationships/slide" Target="slides/slide9.xml"/><Relationship Id="rId224"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223"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cSld name="Title Slide">
    <p:spTree>
      <p:nvGrpSpPr>
        <p:cNvPr id="1" name=""/>
        <p:cNvGrpSpPr/>
        <p:nvPr/>
      </p:nvGrpSpPr>
      <p:grpSpPr>
        <a:xfrm>
          <a:off x="0" y="0"/>
          <a:ext cx="0" cy="0"/>
          <a:chOff x="0" y="0"/>
          <a:chExt cx="0" cy="0"/>
        </a:xfrm>
      </p:grpSpPr>
    </p:spTree>
    <p:extLst>
      <p:ext uri="{BB962C8B-B14F-4D97-AF65-F5344CB8AC3E}">
        <p14:creationId xmlns:p14="http://schemas.microsoft.com/office/powerpoint/2010/main" val="18234137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cSld name="Title and Content">
    <p:spTree>
      <p:nvGrpSpPr>
        <p:cNvPr id="1" name=""/>
        <p:cNvGrpSpPr/>
        <p:nvPr/>
      </p:nvGrpSpPr>
      <p:grpSpPr>
        <a:xfrm>
          <a:off x="0" y="0"/>
          <a:ext cx="0" cy="0"/>
          <a:chOff x="0" y="0"/>
          <a:chExt cx="0" cy="0"/>
        </a:xfrm>
      </p:grpSpPr>
    </p:spTree>
    <p:extLst>
      <p:ext uri="{BB962C8B-B14F-4D97-AF65-F5344CB8AC3E}">
        <p14:creationId xmlns:p14="http://schemas.microsoft.com/office/powerpoint/2010/main" val="283787835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p:cSld name="Title and body">
    <p:spTree>
      <p:nvGrpSpPr>
        <p:cNvPr id="1" name="Shape 13"/>
        <p:cNvGrpSpPr/>
        <p:nvPr/>
      </p:nvGrpSpPr>
      <p:grpSpPr>
        <a:xfrm>
          <a:off x="0" y="0"/>
          <a:ext cx="0" cy="0"/>
          <a:chOff x="0" y="0"/>
          <a:chExt cx="0" cy="0"/>
        </a:xfrm>
      </p:grpSpPr>
    </p:spTree>
    <p:extLst>
      <p:ext uri="{BB962C8B-B14F-4D97-AF65-F5344CB8AC3E}">
        <p14:creationId xmlns:p14="http://schemas.microsoft.com/office/powerpoint/2010/main" val="277187755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cSld name="1_Title Slide">
    <p:spTree>
      <p:nvGrpSpPr>
        <p:cNvPr id="1" name=""/>
        <p:cNvGrpSpPr/>
        <p:nvPr/>
      </p:nvGrpSpPr>
      <p:grpSpPr>
        <a:xfrm>
          <a:off x="0" y="0"/>
          <a:ext cx="0" cy="0"/>
          <a:chOff x="0" y="0"/>
          <a:chExt cx="0" cy="0"/>
        </a:xfrm>
      </p:grpSpPr>
    </p:spTree>
    <p:extLst>
      <p:ext uri="{BB962C8B-B14F-4D97-AF65-F5344CB8AC3E}">
        <p14:creationId xmlns:p14="http://schemas.microsoft.com/office/powerpoint/2010/main" val="2428266476"/>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image" Target="../media/image2.jpg"/><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image" Target="../media/image1.png"/><Relationship Id="rId5" Type="http://schemas.openxmlformats.org/officeDocument/2006/relationships/theme" Target="../theme/theme1.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pic>
        <p:nvPicPr>
          <p:cNvPr id="13" name="Google Shape;110;p4" descr="A close up of a sign&#10;&#10;Description automatically generated">
            <a:extLst>
              <a:ext uri="{FF2B5EF4-FFF2-40B4-BE49-F238E27FC236}">
                <a16:creationId xmlns:a16="http://schemas.microsoft.com/office/drawing/2014/main" id="{CE849A3B-BCF0-B774-F89E-81965C71F93E}"/>
              </a:ext>
            </a:extLst>
          </p:cNvPr>
          <p:cNvPicPr preferRelativeResize="0"/>
          <p:nvPr/>
        </p:nvPicPr>
        <p:blipFill rotWithShape="1">
          <a:blip r:embed="rId6">
            <a:alphaModFix/>
          </a:blip>
          <a:srcRect/>
          <a:stretch/>
        </p:blipFill>
        <p:spPr>
          <a:xfrm>
            <a:off x="10072688" y="78002"/>
            <a:ext cx="1800225" cy="575514"/>
          </a:xfrm>
          <a:prstGeom prst="rect">
            <a:avLst/>
          </a:prstGeom>
          <a:noFill/>
          <a:ln>
            <a:noFill/>
          </a:ln>
        </p:spPr>
      </p:pic>
      <p:sp>
        <p:nvSpPr>
          <p:cNvPr id="15" name="Rectangle 14">
            <a:extLst>
              <a:ext uri="{FF2B5EF4-FFF2-40B4-BE49-F238E27FC236}">
                <a16:creationId xmlns:a16="http://schemas.microsoft.com/office/drawing/2014/main" id="{E153E6A6-60E4-FE14-1CBC-8CC211274D1C}"/>
              </a:ext>
            </a:extLst>
          </p:cNvPr>
          <p:cNvSpPr/>
          <p:nvPr/>
        </p:nvSpPr>
        <p:spPr>
          <a:xfrm>
            <a:off x="1" y="0"/>
            <a:ext cx="9829800" cy="717630"/>
          </a:xfrm>
          <a:prstGeom prst="rect">
            <a:avLst/>
          </a:prstGeom>
          <a:solidFill>
            <a:srgbClr val="213264"/>
          </a:solidFill>
          <a:ln>
            <a:solidFill>
              <a:srgbClr val="21326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9" name="Rectangle 18">
            <a:extLst>
              <a:ext uri="{FF2B5EF4-FFF2-40B4-BE49-F238E27FC236}">
                <a16:creationId xmlns:a16="http://schemas.microsoft.com/office/drawing/2014/main" id="{2C7CE881-772B-9023-3054-4B219B75D755}"/>
              </a:ext>
            </a:extLst>
          </p:cNvPr>
          <p:cNvSpPr/>
          <p:nvPr/>
        </p:nvSpPr>
        <p:spPr>
          <a:xfrm>
            <a:off x="9888967" y="-419"/>
            <a:ext cx="112283" cy="732357"/>
          </a:xfrm>
          <a:prstGeom prst="rect">
            <a:avLst/>
          </a:prstGeom>
          <a:solidFill>
            <a:srgbClr val="7FBA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pic>
        <p:nvPicPr>
          <p:cNvPr id="31" name="Picture 30" descr="A blue and white background&#10;&#10;Description automatically generated with medium confidence">
            <a:extLst>
              <a:ext uri="{FF2B5EF4-FFF2-40B4-BE49-F238E27FC236}">
                <a16:creationId xmlns:a16="http://schemas.microsoft.com/office/drawing/2014/main" id="{16A7B69A-9B14-87FE-841D-37F0A91D141D}"/>
              </a:ext>
            </a:extLst>
          </p:cNvPr>
          <p:cNvPicPr>
            <a:picLocks noChangeAspect="1"/>
          </p:cNvPicPr>
          <p:nvPr/>
        </p:nvPicPr>
        <p:blipFill rotWithShape="1">
          <a:blip r:embed="rId7">
            <a:alphaModFix amt="16000"/>
          </a:blip>
          <a:srcRect t="24724" r="1619" b="63695"/>
          <a:stretch/>
        </p:blipFill>
        <p:spPr>
          <a:xfrm>
            <a:off x="0" y="-1"/>
            <a:ext cx="9839325" cy="723901"/>
          </a:xfrm>
          <a:prstGeom prst="rect">
            <a:avLst/>
          </a:prstGeom>
        </p:spPr>
      </p:pic>
      <p:sp>
        <p:nvSpPr>
          <p:cNvPr id="2" name="Rectangle 1">
            <a:extLst>
              <a:ext uri="{FF2B5EF4-FFF2-40B4-BE49-F238E27FC236}">
                <a16:creationId xmlns:a16="http://schemas.microsoft.com/office/drawing/2014/main" id="{37B91A16-5D54-2FC0-B0FD-A78085FC1313}"/>
              </a:ext>
            </a:extLst>
          </p:cNvPr>
          <p:cNvSpPr/>
          <p:nvPr/>
        </p:nvSpPr>
        <p:spPr>
          <a:xfrm>
            <a:off x="11925300" y="-419"/>
            <a:ext cx="266700" cy="732357"/>
          </a:xfrm>
          <a:prstGeom prst="rect">
            <a:avLst/>
          </a:prstGeom>
          <a:solidFill>
            <a:srgbClr val="FED5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Tree>
  </p:cSld>
  <p:clrMap bg1="lt1" tx1="dk1" bg2="dk2" tx2="lt2" accent1="accent1" accent2="accent2" accent3="accent3" accent4="accent4" accent5="accent5" accent6="accent6" hlink="hlink" folHlink="folHlink"/>
  <p:sldLayoutIdLst>
    <p:sldLayoutId id="2147483687" r:id="rId1"/>
    <p:sldLayoutId id="2147483701" r:id="rId2"/>
    <p:sldLayoutId id="2147483714" r:id="rId3"/>
    <p:sldLayoutId id="2147483727" r:id="rId4"/>
  </p:sldLayoutIdLst>
  <p:hf sldNum="0" hdr="0" ftr="0" dt="0"/>
  <p:txStyles>
    <p:titleStyle>
      <a:defPPr marR="0" lvl="0" algn="l" rtl="0">
        <a:lnSpc>
          <a:spcPct val="100000"/>
        </a:lnSpc>
        <a:spcBef>
          <a:spcPts val="0"/>
        </a:spcBef>
        <a:spcAft>
          <a:spcPts val="0"/>
        </a:spcAft>
      </a:defPPr>
      <a:lvl1pPr marR="0" lvl="0"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p:otherStyle>
  </p:txStyles>
  <p:extLst>
    <p:ext uri="{27BBF7A9-308A-43DC-89C8-2F10F3537804}">
      <p15:sldGuideLst xmlns:p15="http://schemas.microsoft.com/office/powerpoint/2012/main">
        <p15:guide id="1" orient="horz" pos="2160">
          <p15:clr>
            <a:srgbClr val="F26B43"/>
          </p15:clr>
        </p15:guide>
        <p15:guide id="2" pos="3840">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g"/><Relationship Id="rId1" Type="http://schemas.openxmlformats.org/officeDocument/2006/relationships/slideLayout" Target="../slideLayouts/slideLayout1.xml"/><Relationship Id="rId4" Type="http://schemas.openxmlformats.org/officeDocument/2006/relationships/image" Target="../media/image5.png"/></Relationships>
</file>

<file path=ppt/slides/_rels/slide2.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8" Type="http://schemas.openxmlformats.org/officeDocument/2006/relationships/image" Target="../media/image13.png"/><Relationship Id="rId3" Type="http://schemas.openxmlformats.org/officeDocument/2006/relationships/image" Target="../media/image8.png"/><Relationship Id="rId7" Type="http://schemas.openxmlformats.org/officeDocument/2006/relationships/image" Target="../media/image12.png"/><Relationship Id="rId2" Type="http://schemas.openxmlformats.org/officeDocument/2006/relationships/image" Target="../media/image7.png"/><Relationship Id="rId1" Type="http://schemas.openxmlformats.org/officeDocument/2006/relationships/slideLayout" Target="../slideLayouts/slideLayout1.xml"/><Relationship Id="rId6" Type="http://schemas.openxmlformats.org/officeDocument/2006/relationships/image" Target="../media/image11.png"/><Relationship Id="rId5" Type="http://schemas.openxmlformats.org/officeDocument/2006/relationships/image" Target="../media/image10.png"/><Relationship Id="rId10" Type="http://schemas.openxmlformats.org/officeDocument/2006/relationships/image" Target="../media/image15.png"/><Relationship Id="rId4" Type="http://schemas.openxmlformats.org/officeDocument/2006/relationships/image" Target="../media/image9.png"/><Relationship Id="rId9" Type="http://schemas.openxmlformats.org/officeDocument/2006/relationships/image" Target="../media/image14.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7.png"/><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png"/><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png"/><Relationship Id="rId1" Type="http://schemas.openxmlformats.org/officeDocument/2006/relationships/slideLayout" Target="../slideLayouts/slideLayout3.xml"/><Relationship Id="rId4" Type="http://schemas.openxmlformats.org/officeDocument/2006/relationships/image" Target="../media/image22.png"/></Relationships>
</file>

<file path=ppt/slides/_rels/slide10.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23.png"/><Relationship Id="rId1" Type="http://schemas.openxmlformats.org/officeDocument/2006/relationships/slideLayout" Target="../slideLayouts/slideLayout3.xml"/><Relationship Id="rId4" Type="http://schemas.openxmlformats.org/officeDocument/2006/relationships/image" Target="../media/image25.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26.png"/><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A person sitting at a desk with a computer&#10;&#10;Description automatically generated">
            <a:extLst>
              <a:ext uri="{FF2B5EF4-FFF2-40B4-BE49-F238E27FC236}">
                <a16:creationId xmlns:a16="http://schemas.microsoft.com/office/drawing/2014/main" id="{07B8740D-C76F-46FC-AEFB-23FB0614DB0C}"/>
              </a:ext>
            </a:extLst>
          </p:cNvPr>
          <p:cNvPicPr>
            <a:picLocks noChangeAspect="1"/>
          </p:cNvPicPr>
          <p:nvPr/>
        </p:nvPicPr>
        <p:blipFill>
          <a:blip r:embed="rId2"/>
          <a:stretch>
            <a:fillRect/>
          </a:stretch>
        </p:blipFill>
        <p:spPr>
          <a:xfrm>
            <a:off x="0" y="0"/>
            <a:ext cx="12192000" cy="6858000"/>
          </a:xfrm>
          <a:prstGeom prst="rect">
            <a:avLst/>
          </a:prstGeom>
        </p:spPr>
      </p:pic>
      <p:sp>
        <p:nvSpPr>
          <p:cNvPr id="4" name="Rectangle: Rounded Corners 3">
            <a:extLst>
              <a:ext uri="{FF2B5EF4-FFF2-40B4-BE49-F238E27FC236}">
                <a16:creationId xmlns:a16="http://schemas.microsoft.com/office/drawing/2014/main" id="{C1857762-AD52-483C-B3E1-635C5BBC6F2F}"/>
              </a:ext>
            </a:extLst>
          </p:cNvPr>
          <p:cNvSpPr/>
          <p:nvPr/>
        </p:nvSpPr>
        <p:spPr>
          <a:xfrm>
            <a:off x="5685183" y="516835"/>
            <a:ext cx="4862167" cy="1045265"/>
          </a:xfrm>
          <a:prstGeom prst="roundRect">
            <a:avLst/>
          </a:prstGeom>
          <a:solidFill>
            <a:srgbClr val="EBEEF9"/>
          </a:solidFill>
          <a:ln>
            <a:solidFill>
              <a:schemeClr val="bg1">
                <a:lumMod val="85000"/>
              </a:schemeClr>
            </a:solid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5" name="TextBox 4">
            <a:extLst>
              <a:ext uri="{FF2B5EF4-FFF2-40B4-BE49-F238E27FC236}">
                <a16:creationId xmlns:a16="http://schemas.microsoft.com/office/drawing/2014/main" id="{D5067E9C-C7B9-4476-9708-CBB3F66FD892}"/>
              </a:ext>
            </a:extLst>
          </p:cNvPr>
          <p:cNvSpPr txBox="1"/>
          <p:nvPr/>
        </p:nvSpPr>
        <p:spPr>
          <a:xfrm>
            <a:off x="3965275" y="2872113"/>
            <a:ext cx="7430814" cy="1200329"/>
          </a:xfrm>
          <a:prstGeom prst="rect">
            <a:avLst/>
          </a:prstGeom>
          <a:noFill/>
        </p:spPr>
        <p:txBody>
          <a:bodyPr wrap="square" rtlCol="0">
            <a:spAutoFit/>
          </a:bodyPr>
          <a:lstStyle/>
          <a:p>
            <a:pPr algn="r"/>
            <a:r>
              <a:rPr lang="en-US" sz="3600" b="1" u="sng" dirty="0">
                <a:solidFill>
                  <a:schemeClr val="bg1"/>
                </a:solidFill>
                <a:latin typeface="Calibri" panose="020F0502020204030204" pitchFamily="34" charset="0"/>
                <a:cs typeface="Times New Roman" panose="02020603050405020304" pitchFamily="18" charset="0"/>
              </a:rPr>
              <a:t>GREEN-HOUSE-GASES EMISSION PREDICTION </a:t>
            </a:r>
            <a:r>
              <a:rPr lang="en-IN" sz="3600" b="1" u="sng" dirty="0">
                <a:solidFill>
                  <a:schemeClr val="bg1"/>
                </a:solidFill>
                <a:latin typeface="Calibri" panose="020F0502020204030204" pitchFamily="34" charset="0"/>
                <a:cs typeface="Times New Roman" panose="02020603050405020304" pitchFamily="18" charset="0"/>
              </a:rPr>
              <a:t> </a:t>
            </a:r>
            <a:endParaRPr lang="en-US" sz="3600" b="1" u="sng" dirty="0">
              <a:solidFill>
                <a:schemeClr val="bg1"/>
              </a:solidFill>
              <a:latin typeface="Arial" panose="020B0604020202020204" pitchFamily="34" charset="0"/>
              <a:cs typeface="Arial" panose="020B0604020202020204" pitchFamily="34" charset="0"/>
            </a:endParaRPr>
          </a:p>
        </p:txBody>
      </p:sp>
      <p:grpSp>
        <p:nvGrpSpPr>
          <p:cNvPr id="6" name="Group 5">
            <a:extLst>
              <a:ext uri="{FF2B5EF4-FFF2-40B4-BE49-F238E27FC236}">
                <a16:creationId xmlns:a16="http://schemas.microsoft.com/office/drawing/2014/main" id="{D7224A59-2417-428A-A991-E468431BB817}"/>
              </a:ext>
            </a:extLst>
          </p:cNvPr>
          <p:cNvGrpSpPr/>
          <p:nvPr/>
        </p:nvGrpSpPr>
        <p:grpSpPr>
          <a:xfrm>
            <a:off x="6506818" y="667745"/>
            <a:ext cx="3103272" cy="822269"/>
            <a:chOff x="2375536" y="1112060"/>
            <a:chExt cx="3292636" cy="828603"/>
          </a:xfrm>
        </p:grpSpPr>
        <p:pic>
          <p:nvPicPr>
            <p:cNvPr id="7" name="Picture 6" descr="A close up of a logo&#10;&#10;Description automatically generated">
              <a:extLst>
                <a:ext uri="{FF2B5EF4-FFF2-40B4-BE49-F238E27FC236}">
                  <a16:creationId xmlns:a16="http://schemas.microsoft.com/office/drawing/2014/main" id="{BD3530AF-9771-470E-A9BF-F28AA2275338}"/>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4092781" y="1270168"/>
              <a:ext cx="1575391" cy="512386"/>
            </a:xfrm>
            <a:prstGeom prst="rect">
              <a:avLst/>
            </a:prstGeom>
          </p:spPr>
        </p:pic>
        <p:pic>
          <p:nvPicPr>
            <p:cNvPr id="8" name="Picture 7" descr="A yellow and red shell logo&#10;&#10;Description automatically generated">
              <a:extLst>
                <a:ext uri="{FF2B5EF4-FFF2-40B4-BE49-F238E27FC236}">
                  <a16:creationId xmlns:a16="http://schemas.microsoft.com/office/drawing/2014/main" id="{75E6A819-9F3F-4787-A707-A7415C302BFA}"/>
                </a:ext>
              </a:extLst>
            </p:cNvPr>
            <p:cNvPicPr>
              <a:picLocks noChangeAspect="1"/>
            </p:cNvPicPr>
            <p:nvPr/>
          </p:nvPicPr>
          <p:blipFill>
            <a:blip r:embed="rId4"/>
            <a:stretch>
              <a:fillRect/>
            </a:stretch>
          </p:blipFill>
          <p:spPr>
            <a:xfrm>
              <a:off x="2375536" y="1112060"/>
              <a:ext cx="985475" cy="828603"/>
            </a:xfrm>
            <a:prstGeom prst="rect">
              <a:avLst/>
            </a:prstGeom>
          </p:spPr>
        </p:pic>
      </p:grpSp>
      <p:sp>
        <p:nvSpPr>
          <p:cNvPr id="9" name="TextBox 8">
            <a:extLst>
              <a:ext uri="{FF2B5EF4-FFF2-40B4-BE49-F238E27FC236}">
                <a16:creationId xmlns:a16="http://schemas.microsoft.com/office/drawing/2014/main" id="{5B9DB1BA-348A-AF99-BD0C-263511A0B0C1}"/>
              </a:ext>
            </a:extLst>
          </p:cNvPr>
          <p:cNvSpPr txBox="1"/>
          <p:nvPr/>
        </p:nvSpPr>
        <p:spPr>
          <a:xfrm>
            <a:off x="4844412" y="2358877"/>
            <a:ext cx="3525078" cy="461665"/>
          </a:xfrm>
          <a:prstGeom prst="rect">
            <a:avLst/>
          </a:prstGeom>
          <a:noFill/>
        </p:spPr>
        <p:txBody>
          <a:bodyPr wrap="square">
            <a:spAutoFit/>
          </a:bodyPr>
          <a:lstStyle/>
          <a:p>
            <a:pPr algn="r"/>
            <a:r>
              <a:rPr lang="en-US" sz="2400" b="1" dirty="0">
                <a:solidFill>
                  <a:schemeClr val="bg1"/>
                </a:solidFill>
                <a:latin typeface="Calibri" panose="020F0502020204030204" pitchFamily="34" charset="0"/>
                <a:cs typeface="Times New Roman" panose="02020603050405020304" pitchFamily="18" charset="0"/>
              </a:rPr>
              <a:t>NAME OF THE PROJECT :</a:t>
            </a:r>
            <a:endParaRPr lang="en-US" sz="2400" b="1" dirty="0">
              <a:solidFill>
                <a:schemeClr val="bg1"/>
              </a:solidFill>
              <a:latin typeface="Arial" panose="020B0604020202020204" pitchFamily="34" charset="0"/>
              <a:cs typeface="Arial" panose="020B0604020202020204" pitchFamily="34" charset="0"/>
            </a:endParaRPr>
          </a:p>
        </p:txBody>
      </p:sp>
      <p:sp>
        <p:nvSpPr>
          <p:cNvPr id="11" name="TextBox 10">
            <a:extLst>
              <a:ext uri="{FF2B5EF4-FFF2-40B4-BE49-F238E27FC236}">
                <a16:creationId xmlns:a16="http://schemas.microsoft.com/office/drawing/2014/main" id="{B26DE96E-62DD-7BA7-05F5-4BCCAF5146AA}"/>
              </a:ext>
            </a:extLst>
          </p:cNvPr>
          <p:cNvSpPr txBox="1"/>
          <p:nvPr/>
        </p:nvSpPr>
        <p:spPr>
          <a:xfrm>
            <a:off x="5070855" y="4665698"/>
            <a:ext cx="6577806" cy="1323439"/>
          </a:xfrm>
          <a:prstGeom prst="rect">
            <a:avLst/>
          </a:prstGeom>
          <a:noFill/>
        </p:spPr>
        <p:txBody>
          <a:bodyPr wrap="square">
            <a:spAutoFit/>
          </a:bodyPr>
          <a:lstStyle/>
          <a:p>
            <a:r>
              <a:rPr lang="en-US" sz="2000" b="1" dirty="0">
                <a:solidFill>
                  <a:schemeClr val="bg1"/>
                </a:solidFill>
                <a:latin typeface="Calibri" panose="020F0502020204030204" pitchFamily="34" charset="0"/>
                <a:ea typeface="Calibri" panose="020F0502020204030204" pitchFamily="34" charset="0"/>
                <a:cs typeface="Calibri" panose="020F0502020204030204" pitchFamily="34" charset="0"/>
              </a:rPr>
              <a:t>NAME: </a:t>
            </a:r>
            <a:r>
              <a:rPr lang="en-US" sz="2000" dirty="0">
                <a:solidFill>
                  <a:schemeClr val="bg1"/>
                </a:solidFill>
                <a:latin typeface="Calibri" panose="020F0502020204030204" pitchFamily="34" charset="0"/>
                <a:ea typeface="Calibri" panose="020F0502020204030204" pitchFamily="34" charset="0"/>
                <a:cs typeface="Calibri" panose="020F0502020204030204" pitchFamily="34" charset="0"/>
              </a:rPr>
              <a:t>TUSHAR MUKHERJEE</a:t>
            </a:r>
          </a:p>
          <a:p>
            <a:r>
              <a:rPr lang="en-IN" sz="2000" b="1" dirty="0">
                <a:solidFill>
                  <a:schemeClr val="bg1"/>
                </a:solidFill>
                <a:latin typeface="Calibri" panose="020F0502020204030204" pitchFamily="34" charset="0"/>
                <a:ea typeface="Calibri" panose="020F0502020204030204" pitchFamily="34" charset="0"/>
                <a:cs typeface="Calibri" panose="020F0502020204030204" pitchFamily="34" charset="0"/>
              </a:rPr>
              <a:t>AICTE Student ID: </a:t>
            </a:r>
            <a:r>
              <a:rPr lang="en-IN" sz="2000" dirty="0">
                <a:solidFill>
                  <a:schemeClr val="bg1"/>
                </a:solidFill>
                <a:latin typeface="Calibri" panose="020F0502020204030204" pitchFamily="34" charset="0"/>
                <a:ea typeface="Calibri" panose="020F0502020204030204" pitchFamily="34" charset="0"/>
                <a:cs typeface="Calibri" panose="020F0502020204030204" pitchFamily="34" charset="0"/>
              </a:rPr>
              <a:t>STU6821b8ba32c0e1747040442 </a:t>
            </a:r>
          </a:p>
          <a:p>
            <a:r>
              <a:rPr lang="en-IN" sz="2000" b="1" dirty="0">
                <a:solidFill>
                  <a:schemeClr val="bg1"/>
                </a:solidFill>
                <a:latin typeface="Calibri" panose="020F0502020204030204" pitchFamily="34" charset="0"/>
                <a:ea typeface="Calibri" panose="020F0502020204030204" pitchFamily="34" charset="0"/>
                <a:cs typeface="Calibri" panose="020F0502020204030204" pitchFamily="34" charset="0"/>
              </a:rPr>
              <a:t>AICTE Internship ID: </a:t>
            </a:r>
            <a:r>
              <a:rPr lang="en-IN" sz="2000" dirty="0">
                <a:solidFill>
                  <a:schemeClr val="bg1"/>
                </a:solidFill>
                <a:latin typeface="Calibri" panose="020F0502020204030204" pitchFamily="34" charset="0"/>
                <a:ea typeface="Calibri" panose="020F0502020204030204" pitchFamily="34" charset="0"/>
                <a:cs typeface="Calibri" panose="020F0502020204030204" pitchFamily="34" charset="0"/>
              </a:rPr>
              <a:t>INTERNSHIP_1746416864681834e0e35d8</a:t>
            </a:r>
            <a:endParaRPr lang="en-US" sz="2000" dirty="0">
              <a:solidFill>
                <a:schemeClr val="bg1"/>
              </a:solidFill>
              <a:latin typeface="Calibri" panose="020F0502020204030204" pitchFamily="34" charset="0"/>
              <a:ea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36712761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B094E319-C77C-49E2-964C-6E125D716194}"/>
              </a:ext>
            </a:extLst>
          </p:cNvPr>
          <p:cNvSpPr txBox="1"/>
          <p:nvPr/>
        </p:nvSpPr>
        <p:spPr>
          <a:xfrm>
            <a:off x="191910" y="833908"/>
            <a:ext cx="3571706" cy="461665"/>
          </a:xfrm>
          <a:prstGeom prst="rect">
            <a:avLst/>
          </a:prstGeom>
          <a:noFill/>
        </p:spPr>
        <p:txBody>
          <a:bodyPr wrap="square">
            <a:spAutoFit/>
          </a:bodyPr>
          <a:lstStyle/>
          <a:p>
            <a:r>
              <a:rPr lang="en-IN" sz="2400" b="1" dirty="0">
                <a:solidFill>
                  <a:srgbClr val="213163"/>
                </a:solidFill>
              </a:rPr>
              <a:t>Learning Objectives:</a:t>
            </a:r>
            <a:endParaRPr lang="en-IN" sz="2400" dirty="0">
              <a:solidFill>
                <a:srgbClr val="213163"/>
              </a:solidFill>
            </a:endParaRPr>
          </a:p>
        </p:txBody>
      </p:sp>
      <p:cxnSp>
        <p:nvCxnSpPr>
          <p:cNvPr id="5" name="Straight Connector 4">
            <a:extLst>
              <a:ext uri="{FF2B5EF4-FFF2-40B4-BE49-F238E27FC236}">
                <a16:creationId xmlns:a16="http://schemas.microsoft.com/office/drawing/2014/main" id="{CA22F707-7F22-48A3-97EC-98EFB1023A55}"/>
              </a:ext>
            </a:extLst>
          </p:cNvPr>
          <p:cNvCxnSpPr/>
          <p:nvPr/>
        </p:nvCxnSpPr>
        <p:spPr>
          <a:xfrm>
            <a:off x="0" y="6479429"/>
            <a:ext cx="12192000" cy="0"/>
          </a:xfrm>
          <a:prstGeom prst="line">
            <a:avLst/>
          </a:prstGeom>
          <a:ln w="12700">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pic>
        <p:nvPicPr>
          <p:cNvPr id="6" name="Picture 5" descr="A ladder leading to a large yellow circle&#10;&#10;Description automatically generated">
            <a:extLst>
              <a:ext uri="{FF2B5EF4-FFF2-40B4-BE49-F238E27FC236}">
                <a16:creationId xmlns:a16="http://schemas.microsoft.com/office/drawing/2014/main" id="{E2920B14-B344-4926-9729-BC7EBD91FF9A}"/>
              </a:ext>
            </a:extLst>
          </p:cNvPr>
          <p:cNvPicPr>
            <a:picLocks noChangeAspect="1"/>
          </p:cNvPicPr>
          <p:nvPr/>
        </p:nvPicPr>
        <p:blipFill rotWithShape="1">
          <a:blip r:embed="rId2">
            <a:alphaModFix amt="85000"/>
          </a:blip>
          <a:srcRect l="13763" t="6135" r="13650"/>
          <a:stretch/>
        </p:blipFill>
        <p:spPr>
          <a:xfrm>
            <a:off x="7384499" y="1475121"/>
            <a:ext cx="4861642" cy="5004308"/>
          </a:xfrm>
          <a:prstGeom prst="rect">
            <a:avLst/>
          </a:prstGeom>
        </p:spPr>
      </p:pic>
      <p:sp>
        <p:nvSpPr>
          <p:cNvPr id="7" name="TextBox 6">
            <a:extLst>
              <a:ext uri="{FF2B5EF4-FFF2-40B4-BE49-F238E27FC236}">
                <a16:creationId xmlns:a16="http://schemas.microsoft.com/office/drawing/2014/main" id="{6C264928-EACB-4739-BDDA-6799C99356F3}"/>
              </a:ext>
            </a:extLst>
          </p:cNvPr>
          <p:cNvSpPr txBox="1"/>
          <p:nvPr/>
        </p:nvSpPr>
        <p:spPr>
          <a:xfrm>
            <a:off x="9126805" y="3429000"/>
            <a:ext cx="1948070" cy="707886"/>
          </a:xfrm>
          <a:prstGeom prst="rect">
            <a:avLst/>
          </a:prstGeom>
          <a:noFill/>
        </p:spPr>
        <p:txBody>
          <a:bodyPr wrap="square" rtlCol="0">
            <a:spAutoFit/>
          </a:bodyPr>
          <a:lstStyle/>
          <a:p>
            <a:pPr>
              <a:spcAft>
                <a:spcPts val="800"/>
              </a:spcAft>
            </a:pPr>
            <a:r>
              <a:rPr lang="en-IN" sz="4000" b="1" dirty="0">
                <a:solidFill>
                  <a:schemeClr val="tx1"/>
                </a:solidFill>
                <a:latin typeface="+mn-lt"/>
              </a:rPr>
              <a:t>GOAL</a:t>
            </a:r>
          </a:p>
        </p:txBody>
      </p:sp>
      <p:sp>
        <p:nvSpPr>
          <p:cNvPr id="9" name="TextBox 8">
            <a:extLst>
              <a:ext uri="{FF2B5EF4-FFF2-40B4-BE49-F238E27FC236}">
                <a16:creationId xmlns:a16="http://schemas.microsoft.com/office/drawing/2014/main" id="{A43A45B0-9640-A089-D426-9E4C426A435B}"/>
              </a:ext>
            </a:extLst>
          </p:cNvPr>
          <p:cNvSpPr txBox="1"/>
          <p:nvPr/>
        </p:nvSpPr>
        <p:spPr>
          <a:xfrm flipV="1">
            <a:off x="191910" y="6357664"/>
            <a:ext cx="7023166" cy="1721458"/>
          </a:xfrm>
          <a:prstGeom prst="rect">
            <a:avLst/>
          </a:prstGeom>
          <a:noFill/>
        </p:spPr>
        <p:txBody>
          <a:bodyPr wrap="square">
            <a:spAutoFit/>
          </a:bodyPr>
          <a:lstStyle/>
          <a:p>
            <a:endParaRPr lang="en-US" sz="2000" b="1" dirty="0">
              <a:solidFill>
                <a:schemeClr val="tx1"/>
              </a:solidFill>
              <a:latin typeface="Arial" panose="020B0604020202020204" pitchFamily="34" charset="0"/>
              <a:cs typeface="Arial" panose="020B0604020202020204" pitchFamily="34" charset="0"/>
            </a:endParaRPr>
          </a:p>
        </p:txBody>
      </p:sp>
      <p:sp>
        <p:nvSpPr>
          <p:cNvPr id="13" name="Rectangle 4">
            <a:extLst>
              <a:ext uri="{FF2B5EF4-FFF2-40B4-BE49-F238E27FC236}">
                <a16:creationId xmlns:a16="http://schemas.microsoft.com/office/drawing/2014/main" id="{48DE49BD-E7BF-32DB-AB9E-DC12E74D4448}"/>
              </a:ext>
            </a:extLst>
          </p:cNvPr>
          <p:cNvSpPr>
            <a:spLocks noChangeArrowheads="1"/>
          </p:cNvSpPr>
          <p:nvPr/>
        </p:nvSpPr>
        <p:spPr bwMode="auto">
          <a:xfrm>
            <a:off x="191910" y="1824653"/>
            <a:ext cx="7817771" cy="461664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285750" marR="0" lvl="0" indent="-285750" algn="l" defTabSz="914400" rtl="0" eaLnBrk="0" fontAlgn="base" latinLnBrk="0" hangingPunct="0">
              <a:lnSpc>
                <a:spcPct val="100000"/>
              </a:lnSpc>
              <a:spcBef>
                <a:spcPct val="0"/>
              </a:spcBef>
              <a:spcAft>
                <a:spcPct val="0"/>
              </a:spcAft>
              <a:buClrTx/>
              <a:buSzTx/>
              <a:buFont typeface="Wingdings" panose="05000000000000000000" pitchFamily="2" charset="2"/>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Gained a clear understanding of how greenhouse gas (GHG) emissions impact the environment.</a:t>
            </a:r>
          </a:p>
          <a:p>
            <a:pPr marL="285750" marR="0" lvl="0" indent="-285750" algn="l" defTabSz="914400" rtl="0" eaLnBrk="0" fontAlgn="base" latinLnBrk="0" hangingPunct="0">
              <a:lnSpc>
                <a:spcPct val="100000"/>
              </a:lnSpc>
              <a:spcBef>
                <a:spcPct val="0"/>
              </a:spcBef>
              <a:spcAft>
                <a:spcPct val="0"/>
              </a:spcAft>
              <a:buClrTx/>
              <a:buSzTx/>
              <a:buFont typeface="Wingdings" panose="05000000000000000000" pitchFamily="2" charset="2"/>
              <a:buChar char="§"/>
              <a:tabLst/>
            </a:pPr>
            <a:endParaRPr kumimoji="0" lang="en-US" altLang="en-US" sz="1050" b="0" i="0" u="none" strike="noStrike" cap="none" normalizeH="0" baseline="0" dirty="0">
              <a:ln>
                <a:noFill/>
              </a:ln>
              <a:solidFill>
                <a:schemeClr val="tx1"/>
              </a:solidFill>
              <a:effectLst/>
              <a:latin typeface="Arial" panose="020B0604020202020204" pitchFamily="34" charset="0"/>
            </a:endParaRPr>
          </a:p>
          <a:p>
            <a:pPr marL="285750" lvl="0" indent="-285750" eaLnBrk="0" fontAlgn="base" hangingPunct="0">
              <a:spcBef>
                <a:spcPct val="0"/>
              </a:spcBef>
              <a:spcAft>
                <a:spcPct val="0"/>
              </a:spcAft>
              <a:buClrTx/>
              <a:buFont typeface="Wingdings" panose="05000000000000000000" pitchFamily="2" charset="2"/>
              <a:buChar char="§"/>
            </a:pPr>
            <a:r>
              <a:rPr lang="en-US" sz="1800" dirty="0"/>
              <a:t>Learn how Artificial Intelligence (AI), especially machine learning, can help predict environmental changes.</a:t>
            </a:r>
          </a:p>
          <a:p>
            <a:pPr marL="285750" lvl="0" indent="-285750" eaLnBrk="0" fontAlgn="base" hangingPunct="0">
              <a:spcBef>
                <a:spcPct val="0"/>
              </a:spcBef>
              <a:spcAft>
                <a:spcPct val="0"/>
              </a:spcAft>
              <a:buClrTx/>
              <a:buFont typeface="Wingdings" panose="05000000000000000000" pitchFamily="2" charset="2"/>
              <a:buChar char="§"/>
            </a:pPr>
            <a:endParaRPr kumimoji="0" lang="en-US" altLang="en-US" sz="1050" b="0" i="0" u="none" strike="noStrike" cap="none" normalizeH="0" baseline="0" dirty="0">
              <a:ln>
                <a:noFill/>
              </a:ln>
              <a:solidFill>
                <a:schemeClr val="tx1"/>
              </a:solidFill>
              <a:effectLst/>
              <a:latin typeface="Arial" panose="020B0604020202020204" pitchFamily="34" charset="0"/>
            </a:endParaRPr>
          </a:p>
          <a:p>
            <a:pPr marL="285750" lvl="0" indent="-285750" eaLnBrk="0" fontAlgn="base" hangingPunct="0">
              <a:spcBef>
                <a:spcPct val="0"/>
              </a:spcBef>
              <a:spcAft>
                <a:spcPct val="0"/>
              </a:spcAft>
              <a:buClrTx/>
              <a:buFont typeface="Wingdings" panose="05000000000000000000" pitchFamily="2" charset="2"/>
              <a:buChar char="§"/>
            </a:pPr>
            <a:r>
              <a:rPr lang="en-US" sz="1800" dirty="0"/>
              <a:t>We explore real-world data about GHG emissions and learn how to clean and prepare it for analysis.</a:t>
            </a: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285750" marR="0" lvl="0" indent="-285750" algn="l" defTabSz="914400" rtl="0" eaLnBrk="0" fontAlgn="base" latinLnBrk="0" hangingPunct="0">
              <a:lnSpc>
                <a:spcPct val="100000"/>
              </a:lnSpc>
              <a:spcBef>
                <a:spcPct val="0"/>
              </a:spcBef>
              <a:spcAft>
                <a:spcPct val="0"/>
              </a:spcAft>
              <a:buClrTx/>
              <a:buSzTx/>
              <a:buFont typeface="Wingdings" panose="05000000000000000000" pitchFamily="2" charset="2"/>
              <a:buChar char="§"/>
              <a:tabLst/>
            </a:pPr>
            <a:endParaRPr kumimoji="0" lang="en-US" altLang="en-US" sz="1050" b="0" i="0" u="none" strike="noStrike" cap="none" normalizeH="0" baseline="0" dirty="0">
              <a:ln>
                <a:noFill/>
              </a:ln>
              <a:solidFill>
                <a:schemeClr val="tx1"/>
              </a:solidFill>
              <a:effectLst/>
              <a:latin typeface="Arial" panose="020B0604020202020204" pitchFamily="34" charset="0"/>
            </a:endParaRPr>
          </a:p>
          <a:p>
            <a:pPr marL="285750" marR="0" lvl="0" indent="-285750" algn="l" defTabSz="914400" rtl="0" eaLnBrk="0" fontAlgn="base" latinLnBrk="0" hangingPunct="0">
              <a:lnSpc>
                <a:spcPct val="100000"/>
              </a:lnSpc>
              <a:spcBef>
                <a:spcPct val="0"/>
              </a:spcBef>
              <a:spcAft>
                <a:spcPct val="0"/>
              </a:spcAft>
              <a:buClrTx/>
              <a:buSzTx/>
              <a:buFont typeface="Wingdings" panose="05000000000000000000" pitchFamily="2" charset="2"/>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Applied Linear Regression to build a model capable of making meaningful predictions.</a:t>
            </a:r>
          </a:p>
          <a:p>
            <a:pPr marL="285750" marR="0" lvl="0" indent="-285750" algn="l" defTabSz="914400" rtl="0" eaLnBrk="0" fontAlgn="base" latinLnBrk="0" hangingPunct="0">
              <a:lnSpc>
                <a:spcPct val="100000"/>
              </a:lnSpc>
              <a:spcBef>
                <a:spcPct val="0"/>
              </a:spcBef>
              <a:spcAft>
                <a:spcPct val="0"/>
              </a:spcAft>
              <a:buClrTx/>
              <a:buSzTx/>
              <a:buFont typeface="Wingdings" panose="05000000000000000000" pitchFamily="2" charset="2"/>
              <a:buChar char="§"/>
              <a:tabLst/>
            </a:pPr>
            <a:endParaRPr kumimoji="0" lang="en-US" altLang="en-US" sz="1050" b="0" i="0" u="none" strike="noStrike" cap="none" normalizeH="0" baseline="0" dirty="0">
              <a:ln>
                <a:noFill/>
              </a:ln>
              <a:solidFill>
                <a:schemeClr val="tx1"/>
              </a:solidFill>
              <a:effectLst/>
              <a:latin typeface="Arial" panose="020B0604020202020204" pitchFamily="34" charset="0"/>
            </a:endParaRPr>
          </a:p>
          <a:p>
            <a:pPr marL="285750" lvl="0" indent="-285750" eaLnBrk="0" fontAlgn="base" hangingPunct="0">
              <a:spcBef>
                <a:spcPct val="0"/>
              </a:spcBef>
              <a:spcAft>
                <a:spcPct val="0"/>
              </a:spcAft>
              <a:buClrTx/>
              <a:buFont typeface="Wingdings" panose="05000000000000000000" pitchFamily="2" charset="2"/>
              <a:buChar char="§"/>
            </a:pPr>
            <a:r>
              <a:rPr kumimoji="0" lang="en-US" altLang="en-US" sz="1800" b="0" i="0" u="none" strike="noStrike" cap="none" normalizeH="0" baseline="0" dirty="0">
                <a:ln>
                  <a:noFill/>
                </a:ln>
                <a:solidFill>
                  <a:schemeClr val="tx1"/>
                </a:solidFill>
                <a:effectLst/>
                <a:latin typeface="Arial" panose="020B0604020202020204" pitchFamily="34" charset="0"/>
              </a:rPr>
              <a:t>Tested the model’s accuracy and </a:t>
            </a:r>
            <a:r>
              <a:rPr lang="en-US" sz="1800" dirty="0"/>
              <a:t>evaluated the performance of our model, and understood how it could be applied in real-world situations.</a:t>
            </a: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285750" marR="0" lvl="0" indent="-285750" algn="l" defTabSz="914400" rtl="0" eaLnBrk="0" fontAlgn="base" latinLnBrk="0" hangingPunct="0">
              <a:lnSpc>
                <a:spcPct val="100000"/>
              </a:lnSpc>
              <a:spcBef>
                <a:spcPct val="0"/>
              </a:spcBef>
              <a:spcAft>
                <a:spcPct val="0"/>
              </a:spcAft>
              <a:buClrTx/>
              <a:buSzTx/>
              <a:buFont typeface="Wingdings" panose="05000000000000000000" pitchFamily="2" charset="2"/>
              <a:buChar char="§"/>
              <a:tabLst/>
            </a:pPr>
            <a:endParaRPr kumimoji="0" lang="en-US" altLang="en-US" sz="1050" b="0" i="0" u="none" strike="noStrike" cap="none" normalizeH="0" baseline="0" dirty="0">
              <a:ln>
                <a:noFill/>
              </a:ln>
              <a:solidFill>
                <a:schemeClr val="tx1"/>
              </a:solidFill>
              <a:effectLst/>
              <a:latin typeface="Arial" panose="020B0604020202020204" pitchFamily="34" charset="0"/>
            </a:endParaRPr>
          </a:p>
          <a:p>
            <a:pPr marL="285750" lvl="0" indent="-285750" eaLnBrk="0" fontAlgn="base" hangingPunct="0">
              <a:spcBef>
                <a:spcPct val="0"/>
              </a:spcBef>
              <a:spcAft>
                <a:spcPct val="0"/>
              </a:spcAft>
              <a:buClrTx/>
              <a:buFont typeface="Wingdings" panose="05000000000000000000" pitchFamily="2" charset="2"/>
              <a:buChar char="§"/>
            </a:pPr>
            <a:r>
              <a:rPr lang="en-US" sz="1800" dirty="0"/>
              <a:t>Create a solution that can help leaders make better decisions to protect the environment and</a:t>
            </a:r>
            <a:r>
              <a:rPr kumimoji="0" lang="en-US" altLang="en-US" sz="1800" b="0" i="0" u="none" strike="noStrike" cap="none" normalizeH="0" baseline="0" dirty="0">
                <a:ln>
                  <a:noFill/>
                </a:ln>
                <a:solidFill>
                  <a:schemeClr val="tx1"/>
                </a:solidFill>
                <a:effectLst/>
                <a:latin typeface="Arial" panose="020B0604020202020204" pitchFamily="34" charset="0"/>
              </a:rPr>
              <a:t> take smarter steps to reduce environmental damage.</a:t>
            </a:r>
          </a:p>
        </p:txBody>
      </p:sp>
      <p:sp>
        <p:nvSpPr>
          <p:cNvPr id="16" name="Rectangle 15">
            <a:extLst>
              <a:ext uri="{FF2B5EF4-FFF2-40B4-BE49-F238E27FC236}">
                <a16:creationId xmlns:a16="http://schemas.microsoft.com/office/drawing/2014/main" id="{80E4FBC8-ED84-1ADB-F0D7-530FC0AEF309}"/>
              </a:ext>
            </a:extLst>
          </p:cNvPr>
          <p:cNvSpPr/>
          <p:nvPr/>
        </p:nvSpPr>
        <p:spPr>
          <a:xfrm>
            <a:off x="267418" y="1345417"/>
            <a:ext cx="8079615" cy="528084"/>
          </a:xfrm>
          <a:prstGeom prst="rect">
            <a:avLst/>
          </a:prstGeom>
          <a:solidFill>
            <a:schemeClr val="accent4">
              <a:lumMod val="60000"/>
              <a:lumOff val="40000"/>
            </a:schemeClr>
          </a:solidFill>
          <a:ln>
            <a:solidFill>
              <a:schemeClr val="accent1">
                <a:lumMod val="40000"/>
                <a:lumOff val="6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5" name="TextBox 14">
            <a:extLst>
              <a:ext uri="{FF2B5EF4-FFF2-40B4-BE49-F238E27FC236}">
                <a16:creationId xmlns:a16="http://schemas.microsoft.com/office/drawing/2014/main" id="{AAD057A1-12C2-F923-7B6C-1DED1C2C232B}"/>
              </a:ext>
            </a:extLst>
          </p:cNvPr>
          <p:cNvSpPr txBox="1"/>
          <p:nvPr/>
        </p:nvSpPr>
        <p:spPr>
          <a:xfrm>
            <a:off x="267419" y="1394265"/>
            <a:ext cx="8079615" cy="467436"/>
          </a:xfrm>
          <a:prstGeom prst="rect">
            <a:avLst/>
          </a:prstGeom>
          <a:noFill/>
        </p:spPr>
        <p:txBody>
          <a:bodyPr wrap="square">
            <a:spAutoFit/>
          </a:bodyPr>
          <a:lstStyle/>
          <a:p>
            <a:pPr>
              <a:lnSpc>
                <a:spcPts val="1425"/>
              </a:lnSpc>
              <a:buNone/>
            </a:pPr>
            <a:r>
              <a:rPr lang="en-US" sz="1800" b="0" dirty="0">
                <a:solidFill>
                  <a:schemeClr val="tx1"/>
                </a:solidFill>
                <a:effectLst/>
                <a:latin typeface="Calibri" panose="020F0502020204030204" pitchFamily="34" charset="0"/>
                <a:ea typeface="Calibri" panose="020F0502020204030204" pitchFamily="34" charset="0"/>
                <a:cs typeface="Calibri" panose="020F0502020204030204" pitchFamily="34" charset="0"/>
              </a:rPr>
              <a:t>To </a:t>
            </a:r>
            <a:r>
              <a:rPr lang="en-US" sz="1800" b="0" dirty="0" err="1">
                <a:solidFill>
                  <a:schemeClr val="tx1"/>
                </a:solidFill>
                <a:effectLst/>
                <a:latin typeface="Calibri" panose="020F0502020204030204" pitchFamily="34" charset="0"/>
                <a:ea typeface="Calibri" panose="020F0502020204030204" pitchFamily="34" charset="0"/>
                <a:cs typeface="Calibri" panose="020F0502020204030204" pitchFamily="34" charset="0"/>
              </a:rPr>
              <a:t>analyse</a:t>
            </a:r>
            <a:r>
              <a:rPr lang="en-US" sz="1800" b="0" dirty="0">
                <a:solidFill>
                  <a:schemeClr val="tx1"/>
                </a:solidFill>
                <a:effectLst/>
                <a:latin typeface="Calibri" panose="020F0502020204030204" pitchFamily="34" charset="0"/>
                <a:ea typeface="Calibri" panose="020F0502020204030204" pitchFamily="34" charset="0"/>
                <a:cs typeface="Calibri" panose="020F0502020204030204" pitchFamily="34" charset="0"/>
              </a:rPr>
              <a:t> and predict greenhouse gas (GHG) emissions from various U.S. industries and commodities using the official dataset from government data[data.gov].</a:t>
            </a:r>
          </a:p>
        </p:txBody>
      </p:sp>
    </p:spTree>
    <p:extLst>
      <p:ext uri="{BB962C8B-B14F-4D97-AF65-F5344CB8AC3E}">
        <p14:creationId xmlns:p14="http://schemas.microsoft.com/office/powerpoint/2010/main" val="293205248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2361D872-7EC7-439F-A588-B1D90CB7A92F}"/>
              </a:ext>
            </a:extLst>
          </p:cNvPr>
          <p:cNvSpPr txBox="1"/>
          <p:nvPr/>
        </p:nvSpPr>
        <p:spPr>
          <a:xfrm>
            <a:off x="119792" y="843074"/>
            <a:ext cx="6102626" cy="461665"/>
          </a:xfrm>
          <a:prstGeom prst="rect">
            <a:avLst/>
          </a:prstGeom>
          <a:noFill/>
        </p:spPr>
        <p:txBody>
          <a:bodyPr wrap="square">
            <a:spAutoFit/>
          </a:bodyPr>
          <a:lstStyle/>
          <a:p>
            <a:r>
              <a:rPr lang="en-US" sz="2400" b="1" dirty="0">
                <a:solidFill>
                  <a:srgbClr val="213163"/>
                </a:solidFill>
              </a:rPr>
              <a:t>T</a:t>
            </a:r>
            <a:r>
              <a:rPr lang="en-IN" sz="2400" b="1" dirty="0" err="1">
                <a:solidFill>
                  <a:srgbClr val="213163"/>
                </a:solidFill>
              </a:rPr>
              <a:t>ools</a:t>
            </a:r>
            <a:r>
              <a:rPr lang="en-IN" sz="2400" b="1" dirty="0">
                <a:solidFill>
                  <a:srgbClr val="213163"/>
                </a:solidFill>
              </a:rPr>
              <a:t> and Technology Used </a:t>
            </a:r>
          </a:p>
        </p:txBody>
      </p:sp>
      <p:sp>
        <p:nvSpPr>
          <p:cNvPr id="2" name="Rectangle 1">
            <a:extLst>
              <a:ext uri="{FF2B5EF4-FFF2-40B4-BE49-F238E27FC236}">
                <a16:creationId xmlns:a16="http://schemas.microsoft.com/office/drawing/2014/main" id="{23828BDA-13D5-FE4E-2F71-4C8B0ED8BF06}"/>
              </a:ext>
            </a:extLst>
          </p:cNvPr>
          <p:cNvSpPr>
            <a:spLocks noChangeArrowheads="1"/>
          </p:cNvSpPr>
          <p:nvPr/>
        </p:nvSpPr>
        <p:spPr bwMode="auto">
          <a:xfrm>
            <a:off x="212682" y="1214428"/>
            <a:ext cx="6490043" cy="53553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285750" marR="0" lvl="0" indent="-285750" algn="l" defTabSz="914400" rtl="0" eaLnBrk="0" fontAlgn="base" latinLnBrk="0" hangingPunct="0">
              <a:lnSpc>
                <a:spcPct val="100000"/>
              </a:lnSpc>
              <a:spcBef>
                <a:spcPct val="0"/>
              </a:spcBef>
              <a:spcAft>
                <a:spcPct val="0"/>
              </a:spcAft>
              <a:buClrTx/>
              <a:buSzTx/>
              <a:buFont typeface="Wingdings" panose="05000000000000000000" pitchFamily="2" charset="2"/>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Environment:</a:t>
            </a:r>
            <a:r>
              <a:rPr kumimoji="0" lang="en-US" altLang="en-US" sz="1800" b="0" i="0" u="none" strike="noStrike" cap="none" normalizeH="0" baseline="0" dirty="0">
                <a:ln>
                  <a:noFill/>
                </a:ln>
                <a:solidFill>
                  <a:schemeClr val="tx1"/>
                </a:solidFill>
                <a:effectLst/>
                <a:latin typeface="Arial" panose="020B0604020202020204" pitchFamily="34" charset="0"/>
              </a:rPr>
              <a:t> Google </a:t>
            </a:r>
            <a:r>
              <a:rPr kumimoji="0" lang="en-US" altLang="en-US" sz="1800" b="0" i="0" u="none" strike="noStrike" cap="none" normalizeH="0" baseline="0" dirty="0" err="1">
                <a:ln>
                  <a:noFill/>
                </a:ln>
                <a:solidFill>
                  <a:schemeClr val="tx1"/>
                </a:solidFill>
                <a:effectLst/>
                <a:latin typeface="Arial" panose="020B0604020202020204" pitchFamily="34" charset="0"/>
              </a:rPr>
              <a:t>Colab</a:t>
            </a:r>
            <a:r>
              <a:rPr kumimoji="0" lang="en-US" altLang="en-US" sz="1800" b="0" i="0" u="none" strike="noStrike" cap="none" normalizeH="0" baseline="0" dirty="0">
                <a:ln>
                  <a:noFill/>
                </a:ln>
                <a:solidFill>
                  <a:schemeClr val="tx1"/>
                </a:solidFill>
                <a:effectLst/>
                <a:latin typeface="Arial" panose="020B0604020202020204" pitchFamily="34" charset="0"/>
              </a:rPr>
              <a:t> / </a:t>
            </a:r>
            <a:r>
              <a:rPr kumimoji="0" lang="en-US" altLang="en-US" sz="1800" b="0" i="0" u="none" strike="noStrike" cap="none" normalizeH="0" baseline="0" dirty="0" err="1">
                <a:ln>
                  <a:noFill/>
                </a:ln>
                <a:solidFill>
                  <a:schemeClr val="tx1"/>
                </a:solidFill>
                <a:effectLst/>
                <a:latin typeface="Arial" panose="020B0604020202020204" pitchFamily="34" charset="0"/>
              </a:rPr>
              <a:t>Jupyter</a:t>
            </a:r>
            <a:r>
              <a:rPr kumimoji="0" lang="en-US" altLang="en-US" sz="1800" b="0" i="0" u="none" strike="noStrike" cap="none" normalizeH="0" baseline="0" dirty="0">
                <a:ln>
                  <a:noFill/>
                </a:ln>
                <a:solidFill>
                  <a:schemeClr val="tx1"/>
                </a:solidFill>
                <a:effectLst/>
                <a:latin typeface="Arial" panose="020B0604020202020204" pitchFamily="34" charset="0"/>
              </a:rPr>
              <a:t> Notebook.</a:t>
            </a:r>
          </a:p>
          <a:p>
            <a:pPr marL="285750" marR="0" lvl="0" indent="-285750" algn="l" defTabSz="914400" rtl="0" eaLnBrk="0" fontAlgn="base" latinLnBrk="0" hangingPunct="0">
              <a:lnSpc>
                <a:spcPct val="100000"/>
              </a:lnSpc>
              <a:spcBef>
                <a:spcPct val="0"/>
              </a:spcBef>
              <a:spcAft>
                <a:spcPct val="0"/>
              </a:spcAft>
              <a:buClrTx/>
              <a:buSzTx/>
              <a:buFont typeface="Wingdings" panose="05000000000000000000" pitchFamily="2" charset="2"/>
              <a:buChar char="§"/>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285750" marR="0" lvl="0" indent="-285750" algn="l" defTabSz="914400" rtl="0" eaLnBrk="0" fontAlgn="base" latinLnBrk="0" hangingPunct="0">
              <a:lnSpc>
                <a:spcPct val="100000"/>
              </a:lnSpc>
              <a:spcBef>
                <a:spcPct val="0"/>
              </a:spcBef>
              <a:spcAft>
                <a:spcPct val="0"/>
              </a:spcAft>
              <a:buClrTx/>
              <a:buSzTx/>
              <a:buFont typeface="Wingdings" panose="05000000000000000000" pitchFamily="2" charset="2"/>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Programming Language:</a:t>
            </a:r>
            <a:r>
              <a:rPr kumimoji="0" lang="en-US" altLang="en-US" sz="1800" b="0" i="0" u="none" strike="noStrike" cap="none" normalizeH="0" baseline="0" dirty="0">
                <a:ln>
                  <a:noFill/>
                </a:ln>
                <a:solidFill>
                  <a:schemeClr val="tx1"/>
                </a:solidFill>
                <a:effectLst/>
                <a:latin typeface="Arial" panose="020B0604020202020204" pitchFamily="34" charset="0"/>
              </a:rPr>
              <a:t> Python.</a:t>
            </a:r>
          </a:p>
          <a:p>
            <a:pPr marL="285750" marR="0" lvl="0" indent="-285750" algn="l" defTabSz="914400" rtl="0" eaLnBrk="0" fontAlgn="base" latinLnBrk="0" hangingPunct="0">
              <a:lnSpc>
                <a:spcPct val="100000"/>
              </a:lnSpc>
              <a:spcBef>
                <a:spcPct val="0"/>
              </a:spcBef>
              <a:spcAft>
                <a:spcPct val="0"/>
              </a:spcAft>
              <a:buClrTx/>
              <a:buSzTx/>
              <a:buFont typeface="Wingdings" panose="05000000000000000000" pitchFamily="2" charset="2"/>
              <a:buChar char="§"/>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285750" marR="0" lvl="0" indent="-285750" algn="l" defTabSz="914400" rtl="0" eaLnBrk="0" fontAlgn="base" latinLnBrk="0" hangingPunct="0">
              <a:lnSpc>
                <a:spcPct val="100000"/>
              </a:lnSpc>
              <a:spcBef>
                <a:spcPct val="0"/>
              </a:spcBef>
              <a:spcAft>
                <a:spcPct val="0"/>
              </a:spcAft>
              <a:buClrTx/>
              <a:buSzTx/>
              <a:buFont typeface="Wingdings" panose="05000000000000000000" pitchFamily="2" charset="2"/>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Dataset:</a:t>
            </a:r>
            <a:r>
              <a:rPr kumimoji="0" lang="en-US" altLang="en-US" sz="1800" b="0" i="0" u="none" strike="noStrike" cap="none" normalizeH="0" baseline="0" dirty="0">
                <a:ln>
                  <a:noFill/>
                </a:ln>
                <a:solidFill>
                  <a:schemeClr val="tx1"/>
                </a:solidFill>
                <a:effectLst/>
                <a:latin typeface="Arial" panose="020B0604020202020204" pitchFamily="34" charset="0"/>
              </a:rPr>
              <a:t> World Bank dataset or similar CSV containing country-wise GHG emissions data across years.</a:t>
            </a:r>
          </a:p>
          <a:p>
            <a:pPr marL="285750" marR="0" lvl="0" indent="-285750" algn="l" defTabSz="914400" rtl="0" eaLnBrk="0" fontAlgn="base" latinLnBrk="0" hangingPunct="0">
              <a:lnSpc>
                <a:spcPct val="100000"/>
              </a:lnSpc>
              <a:spcBef>
                <a:spcPct val="0"/>
              </a:spcBef>
              <a:spcAft>
                <a:spcPct val="0"/>
              </a:spcAft>
              <a:buClrTx/>
              <a:buSzTx/>
              <a:buFont typeface="Wingdings" panose="05000000000000000000" pitchFamily="2" charset="2"/>
              <a:buChar char="§"/>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285750" marR="0" lvl="0" indent="-285750" algn="l" defTabSz="914400" rtl="0" eaLnBrk="0" fontAlgn="base" latinLnBrk="0" hangingPunct="0">
              <a:lnSpc>
                <a:spcPct val="100000"/>
              </a:lnSpc>
              <a:spcBef>
                <a:spcPct val="0"/>
              </a:spcBef>
              <a:spcAft>
                <a:spcPct val="0"/>
              </a:spcAft>
              <a:buClrTx/>
              <a:buSzTx/>
              <a:buFont typeface="Wingdings" panose="05000000000000000000" pitchFamily="2" charset="2"/>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Libraries Used:</a:t>
            </a: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285750" marR="0" lvl="0" indent="-285750" algn="l" defTabSz="914400" rtl="0" eaLnBrk="0" fontAlgn="base" latinLnBrk="0" hangingPunct="0">
              <a:lnSpc>
                <a:spcPct val="100000"/>
              </a:lnSpc>
              <a:spcBef>
                <a:spcPct val="0"/>
              </a:spcBef>
              <a:spcAft>
                <a:spcPct val="0"/>
              </a:spcAft>
              <a:buClrTx/>
              <a:buSzTx/>
              <a:buFont typeface="Wingdings" panose="05000000000000000000" pitchFamily="2" charset="2"/>
              <a:buChar char="ü"/>
              <a:tabLst/>
            </a:pPr>
            <a:r>
              <a:rPr kumimoji="0" lang="en-US" altLang="en-US" sz="1800" i="0" u="none" strike="noStrike" cap="none" normalizeH="0" baseline="0" dirty="0">
                <a:ln>
                  <a:noFill/>
                </a:ln>
                <a:solidFill>
                  <a:schemeClr val="tx1"/>
                </a:solidFill>
                <a:effectLst/>
                <a:latin typeface="Arial Unicode MS"/>
              </a:rPr>
              <a:t> </a:t>
            </a:r>
            <a:r>
              <a:rPr kumimoji="0" lang="en-US" altLang="en-US" sz="1800" i="0" u="none" strike="noStrike" cap="none" normalizeH="0" baseline="0" dirty="0">
                <a:ln>
                  <a:noFill/>
                </a:ln>
                <a:solidFill>
                  <a:schemeClr val="bg2"/>
                </a:solidFill>
                <a:effectLst/>
                <a:latin typeface="Arial Unicode MS"/>
              </a:rPr>
              <a:t>pandas</a:t>
            </a:r>
            <a:r>
              <a:rPr kumimoji="0" lang="en-US" altLang="en-US" sz="1800" b="0" i="0" u="none" strike="noStrike" cap="none" normalizeH="0" baseline="0" dirty="0">
                <a:ln>
                  <a:noFill/>
                </a:ln>
                <a:solidFill>
                  <a:schemeClr val="tx1"/>
                </a:solidFill>
                <a:effectLst/>
              </a:rPr>
              <a:t> for data manipulation.</a:t>
            </a: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285750" marR="0" lvl="0" indent="-285750" algn="l" defTabSz="914400" rtl="0" eaLnBrk="0" fontAlgn="base" latinLnBrk="0" hangingPunct="0">
              <a:lnSpc>
                <a:spcPct val="100000"/>
              </a:lnSpc>
              <a:spcBef>
                <a:spcPct val="0"/>
              </a:spcBef>
              <a:spcAft>
                <a:spcPct val="0"/>
              </a:spcAft>
              <a:buClrTx/>
              <a:buSzTx/>
              <a:buFont typeface="Wingdings" panose="05000000000000000000" pitchFamily="2" charset="2"/>
              <a:buChar char="ü"/>
              <a:tabLst/>
            </a:pPr>
            <a:r>
              <a:rPr kumimoji="0" lang="en-US" altLang="en-US" sz="1800" i="0" u="none" strike="noStrike" cap="none" normalizeH="0" baseline="0" dirty="0">
                <a:ln>
                  <a:noFill/>
                </a:ln>
                <a:solidFill>
                  <a:schemeClr val="tx1"/>
                </a:solidFill>
                <a:effectLst/>
                <a:latin typeface="Arial Unicode MS"/>
              </a:rPr>
              <a:t> </a:t>
            </a:r>
            <a:r>
              <a:rPr kumimoji="0" lang="en-US" altLang="en-US" sz="1800" i="0" u="none" strike="noStrike" cap="none" normalizeH="0" baseline="0" dirty="0">
                <a:ln>
                  <a:noFill/>
                </a:ln>
                <a:solidFill>
                  <a:schemeClr val="bg2"/>
                </a:solidFill>
                <a:effectLst/>
                <a:latin typeface="Arial Unicode MS"/>
              </a:rPr>
              <a:t>matplotlib</a:t>
            </a:r>
            <a:r>
              <a:rPr kumimoji="0" lang="en-US" altLang="en-US" sz="1800" b="0" i="0" u="none" strike="noStrike" cap="none" normalizeH="0" baseline="0" dirty="0">
                <a:ln>
                  <a:noFill/>
                </a:ln>
                <a:solidFill>
                  <a:schemeClr val="tx1"/>
                </a:solidFill>
                <a:effectLst/>
              </a:rPr>
              <a:t> and </a:t>
            </a:r>
            <a:r>
              <a:rPr kumimoji="0" lang="en-US" altLang="en-US" sz="1800" b="0" i="0" u="none" strike="noStrike" cap="none" normalizeH="0" baseline="0" dirty="0">
                <a:ln>
                  <a:noFill/>
                </a:ln>
                <a:solidFill>
                  <a:schemeClr val="bg2"/>
                </a:solidFill>
                <a:effectLst/>
                <a:latin typeface="Arial Unicode MS"/>
              </a:rPr>
              <a:t>seaborn</a:t>
            </a:r>
            <a:r>
              <a:rPr kumimoji="0" lang="en-US" altLang="en-US" sz="1800" b="0" i="0" u="none" strike="noStrike" cap="none" normalizeH="0" baseline="0" dirty="0">
                <a:ln>
                  <a:noFill/>
                </a:ln>
                <a:solidFill>
                  <a:schemeClr val="tx1"/>
                </a:solidFill>
                <a:effectLst/>
              </a:rPr>
              <a:t> for data visualization.</a:t>
            </a: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285750" marR="0" lvl="0" indent="-285750" algn="l" defTabSz="914400" rtl="0" eaLnBrk="0" fontAlgn="base" latinLnBrk="0" hangingPunct="0">
              <a:lnSpc>
                <a:spcPct val="100000"/>
              </a:lnSpc>
              <a:spcBef>
                <a:spcPct val="0"/>
              </a:spcBef>
              <a:spcAft>
                <a:spcPct val="0"/>
              </a:spcAft>
              <a:buClrTx/>
              <a:buSzTx/>
              <a:buFont typeface="Wingdings" panose="05000000000000000000" pitchFamily="2" charset="2"/>
              <a:buChar char="ü"/>
              <a:tabLst/>
            </a:pPr>
            <a:r>
              <a:rPr kumimoji="0" lang="en-US" altLang="en-US" sz="1800" b="0" i="0" u="none" strike="noStrike" cap="none" normalizeH="0" baseline="0" dirty="0">
                <a:ln>
                  <a:noFill/>
                </a:ln>
                <a:solidFill>
                  <a:schemeClr val="tx1"/>
                </a:solidFill>
                <a:effectLst/>
                <a:latin typeface="Arial Unicode MS"/>
              </a:rPr>
              <a:t> </a:t>
            </a:r>
            <a:r>
              <a:rPr kumimoji="0" lang="en-US" altLang="en-US" sz="1800" i="0" u="none" strike="noStrike" cap="none" normalizeH="0" baseline="0" dirty="0" err="1">
                <a:ln>
                  <a:noFill/>
                </a:ln>
                <a:solidFill>
                  <a:schemeClr val="bg2"/>
                </a:solidFill>
                <a:effectLst/>
                <a:latin typeface="Arial Unicode MS"/>
              </a:rPr>
              <a:t>sklearn</a:t>
            </a:r>
            <a:r>
              <a:rPr kumimoji="0" lang="en-US" altLang="en-US" sz="1800" b="0" i="0" u="none" strike="noStrike" cap="none" normalizeH="0" baseline="0" dirty="0">
                <a:ln>
                  <a:noFill/>
                </a:ln>
                <a:solidFill>
                  <a:schemeClr val="bg2"/>
                </a:solidFill>
                <a:effectLst/>
              </a:rPr>
              <a:t> </a:t>
            </a:r>
            <a:r>
              <a:rPr kumimoji="0" lang="en-US" altLang="en-US" sz="1800" b="0" i="0" u="none" strike="noStrike" cap="none" normalizeH="0" baseline="0" dirty="0">
                <a:ln>
                  <a:noFill/>
                </a:ln>
                <a:solidFill>
                  <a:schemeClr val="tx1"/>
                </a:solidFill>
                <a:effectLst/>
              </a:rPr>
              <a:t>for preprocessing, training Linear Regression,</a:t>
            </a:r>
          </a:p>
          <a:p>
            <a:pPr marR="0" lvl="0" algn="l" defTabSz="914400" rtl="0" eaLnBrk="0" fontAlgn="base" latinLnBrk="0" hangingPunct="0">
              <a:lnSpc>
                <a:spcPct val="100000"/>
              </a:lnSpc>
              <a:spcBef>
                <a:spcPct val="0"/>
              </a:spcBef>
              <a:spcAft>
                <a:spcPct val="0"/>
              </a:spcAft>
              <a:buClrTx/>
              <a:buSzTx/>
              <a:tabLst/>
            </a:pPr>
            <a:r>
              <a:rPr lang="en-US" altLang="en-US" sz="1800" dirty="0">
                <a:solidFill>
                  <a:schemeClr val="tx1"/>
                </a:solidFill>
              </a:rPr>
              <a:t>     </a:t>
            </a:r>
            <a:r>
              <a:rPr kumimoji="0" lang="en-US" altLang="en-US" sz="1800" b="0" i="0" u="none" strike="noStrike" cap="none" normalizeH="0" baseline="0" dirty="0">
                <a:ln>
                  <a:noFill/>
                </a:ln>
                <a:solidFill>
                  <a:schemeClr val="tx1"/>
                </a:solidFill>
                <a:effectLst/>
              </a:rPr>
              <a:t>and model evaluation.</a:t>
            </a: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285750" marR="0" lvl="0" indent="-285750" algn="l" defTabSz="914400" rtl="0" eaLnBrk="0" fontAlgn="base" latinLnBrk="0" hangingPunct="0">
              <a:lnSpc>
                <a:spcPct val="100000"/>
              </a:lnSpc>
              <a:spcBef>
                <a:spcPct val="0"/>
              </a:spcBef>
              <a:spcAft>
                <a:spcPct val="0"/>
              </a:spcAft>
              <a:buClrTx/>
              <a:buSzTx/>
              <a:buFont typeface="Wingdings" panose="05000000000000000000" pitchFamily="2" charset="2"/>
              <a:buChar char="ü"/>
              <a:tabLst/>
            </a:pPr>
            <a:r>
              <a:rPr kumimoji="0" lang="en-US" altLang="en-US" sz="1800" b="0" i="0" u="none" strike="noStrike" cap="none" normalizeH="0" baseline="0" dirty="0">
                <a:ln>
                  <a:noFill/>
                </a:ln>
                <a:solidFill>
                  <a:schemeClr val="tx1"/>
                </a:solidFill>
                <a:effectLst/>
                <a:latin typeface="Arial Unicode MS"/>
              </a:rPr>
              <a:t> </a:t>
            </a:r>
            <a:r>
              <a:rPr kumimoji="0" lang="en-US" altLang="en-US" sz="1800" i="0" u="none" strike="noStrike" cap="none" normalizeH="0" baseline="0" dirty="0" err="1">
                <a:ln>
                  <a:noFill/>
                </a:ln>
                <a:solidFill>
                  <a:schemeClr val="bg2"/>
                </a:solidFill>
                <a:effectLst/>
                <a:latin typeface="Arial Unicode MS"/>
              </a:rPr>
              <a:t>numpy</a:t>
            </a:r>
            <a:r>
              <a:rPr kumimoji="0" lang="en-US" altLang="en-US" sz="1800" b="0" i="0" u="none" strike="noStrike" cap="none" normalizeH="0" baseline="0" dirty="0">
                <a:ln>
                  <a:noFill/>
                </a:ln>
                <a:solidFill>
                  <a:schemeClr val="tx1"/>
                </a:solidFill>
                <a:effectLst/>
              </a:rPr>
              <a:t> for numerical operations.</a:t>
            </a:r>
          </a:p>
          <a:p>
            <a:pPr marL="285750" marR="0" lvl="0" indent="-285750" algn="l" defTabSz="914400" rtl="0" eaLnBrk="0" fontAlgn="base" latinLnBrk="0" hangingPunct="0">
              <a:lnSpc>
                <a:spcPct val="100000"/>
              </a:lnSpc>
              <a:spcBef>
                <a:spcPct val="0"/>
              </a:spcBef>
              <a:spcAft>
                <a:spcPct val="0"/>
              </a:spcAft>
              <a:buClrTx/>
              <a:buSzTx/>
              <a:buFont typeface="Wingdings" panose="05000000000000000000" pitchFamily="2" charset="2"/>
              <a:buChar char="ü"/>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285750" marR="0" lvl="0" indent="-285750" algn="l" defTabSz="914400" rtl="0" eaLnBrk="0" fontAlgn="base" latinLnBrk="0" hangingPunct="0">
              <a:lnSpc>
                <a:spcPct val="100000"/>
              </a:lnSpc>
              <a:spcBef>
                <a:spcPct val="0"/>
              </a:spcBef>
              <a:spcAft>
                <a:spcPct val="0"/>
              </a:spcAft>
              <a:buClrTx/>
              <a:buSzTx/>
              <a:buFont typeface="Wingdings" panose="05000000000000000000" pitchFamily="2" charset="2"/>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Version Control:</a:t>
            </a:r>
            <a:r>
              <a:rPr kumimoji="0" lang="en-US" altLang="en-US" sz="1800" b="0" i="0" u="none" strike="noStrike" cap="none" normalizeH="0" baseline="0" dirty="0">
                <a:ln>
                  <a:noFill/>
                </a:ln>
                <a:solidFill>
                  <a:schemeClr val="tx1"/>
                </a:solidFill>
                <a:effectLst/>
                <a:latin typeface="Arial" panose="020B0604020202020204" pitchFamily="34" charset="0"/>
              </a:rPr>
              <a:t> Local file saving (CSV), possible GitHub submission.</a:t>
            </a:r>
          </a:p>
          <a:p>
            <a:pPr marL="285750" marR="0" lvl="0" indent="-285750" algn="l" defTabSz="914400" rtl="0" eaLnBrk="0" fontAlgn="base" latinLnBrk="0" hangingPunct="0">
              <a:lnSpc>
                <a:spcPct val="100000"/>
              </a:lnSpc>
              <a:spcBef>
                <a:spcPct val="0"/>
              </a:spcBef>
              <a:spcAft>
                <a:spcPct val="0"/>
              </a:spcAft>
              <a:buClrTx/>
              <a:buSzTx/>
              <a:buFont typeface="Wingdings" panose="05000000000000000000" pitchFamily="2" charset="2"/>
              <a:buChar char="§"/>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285750" marR="0" lvl="0" indent="-285750" algn="l" defTabSz="914400" rtl="0" eaLnBrk="0" fontAlgn="base" latinLnBrk="0" hangingPunct="0">
              <a:lnSpc>
                <a:spcPct val="100000"/>
              </a:lnSpc>
              <a:spcBef>
                <a:spcPct val="0"/>
              </a:spcBef>
              <a:spcAft>
                <a:spcPct val="0"/>
              </a:spcAft>
              <a:buClrTx/>
              <a:buSzTx/>
              <a:buFont typeface="Wingdings" panose="05000000000000000000" pitchFamily="2" charset="2"/>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Model Used:</a:t>
            </a:r>
            <a:r>
              <a:rPr kumimoji="0" lang="en-US" altLang="en-US" sz="1800" b="0" i="0" u="none" strike="noStrike" cap="none" normalizeH="0" baseline="0" dirty="0">
                <a:ln>
                  <a:noFill/>
                </a:ln>
                <a:solidFill>
                  <a:schemeClr val="tx1"/>
                </a:solidFill>
                <a:effectLst/>
                <a:latin typeface="Arial" panose="020B0604020202020204" pitchFamily="34" charset="0"/>
              </a:rPr>
              <a:t> Linear Regression from </a:t>
            </a:r>
            <a:r>
              <a:rPr kumimoji="0" lang="en-US" altLang="en-US" sz="1800" b="0" i="0" u="none" strike="noStrike" cap="none" normalizeH="0" baseline="0" dirty="0" err="1">
                <a:ln>
                  <a:noFill/>
                </a:ln>
                <a:solidFill>
                  <a:schemeClr val="bg2"/>
                </a:solidFill>
                <a:effectLst/>
                <a:latin typeface="Arial Unicode MS"/>
              </a:rPr>
              <a:t>sklearn.linear_model</a:t>
            </a:r>
            <a:r>
              <a:rPr kumimoji="0" lang="en-US" altLang="en-US" sz="1800" b="0" i="0" u="none" strike="noStrike" cap="none" normalizeH="0" baseline="0" dirty="0">
                <a:ln>
                  <a:noFill/>
                </a:ln>
                <a:solidFill>
                  <a:schemeClr val="bg2"/>
                </a:solidFill>
                <a:effectLst/>
                <a:latin typeface="Arial Unicode MS"/>
              </a:rPr>
              <a:t> </a:t>
            </a:r>
            <a:r>
              <a:rPr kumimoji="0" lang="en-US" altLang="en-US" sz="1800" b="0" i="0" u="none" strike="noStrike" cap="none" normalizeH="0" baseline="0" dirty="0">
                <a:ln>
                  <a:noFill/>
                </a:ln>
                <a:solidFill>
                  <a:schemeClr val="tx1"/>
                </a:solidFill>
                <a:effectLst/>
                <a:latin typeface="Arial Unicode MS"/>
              </a:rPr>
              <a:t>.</a:t>
            </a: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7" name="Oval 6">
            <a:extLst>
              <a:ext uri="{FF2B5EF4-FFF2-40B4-BE49-F238E27FC236}">
                <a16:creationId xmlns:a16="http://schemas.microsoft.com/office/drawing/2014/main" id="{E3F82710-825B-013E-4A66-2B7736FF7CBB}"/>
              </a:ext>
            </a:extLst>
          </p:cNvPr>
          <p:cNvSpPr/>
          <p:nvPr/>
        </p:nvSpPr>
        <p:spPr>
          <a:xfrm>
            <a:off x="6096000" y="1214428"/>
            <a:ext cx="5930696" cy="5002641"/>
          </a:xfrm>
          <a:prstGeom prst="ellipse">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cxnSp>
        <p:nvCxnSpPr>
          <p:cNvPr id="5" name="Straight Connector 4">
            <a:extLst>
              <a:ext uri="{FF2B5EF4-FFF2-40B4-BE49-F238E27FC236}">
                <a16:creationId xmlns:a16="http://schemas.microsoft.com/office/drawing/2014/main" id="{9B14221B-0EFE-246E-93CA-F03569ECD279}"/>
              </a:ext>
            </a:extLst>
          </p:cNvPr>
          <p:cNvCxnSpPr/>
          <p:nvPr/>
        </p:nvCxnSpPr>
        <p:spPr>
          <a:xfrm>
            <a:off x="0" y="6479429"/>
            <a:ext cx="12192000" cy="0"/>
          </a:xfrm>
          <a:prstGeom prst="line">
            <a:avLst/>
          </a:prstGeom>
          <a:ln w="12700">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pic>
        <p:nvPicPr>
          <p:cNvPr id="2051" name="Picture 3" descr="Google Colab Logo transparent PNG - StickPNG">
            <a:extLst>
              <a:ext uri="{FF2B5EF4-FFF2-40B4-BE49-F238E27FC236}">
                <a16:creationId xmlns:a16="http://schemas.microsoft.com/office/drawing/2014/main" id="{E010ECFA-6EA5-EB26-35D0-144EA9BDD58B}"/>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15919" t="28179" r="17665" b="30362"/>
          <a:stretch>
            <a:fillRect/>
          </a:stretch>
        </p:blipFill>
        <p:spPr bwMode="auto">
          <a:xfrm rot="20601827">
            <a:off x="6675586" y="2374808"/>
            <a:ext cx="1423358" cy="888518"/>
          </a:xfrm>
          <a:prstGeom prst="rect">
            <a:avLst/>
          </a:prstGeom>
          <a:noFill/>
          <a:ln>
            <a:solidFill>
              <a:schemeClr val="bg1"/>
            </a:solidFill>
          </a:ln>
          <a:extLst>
            <a:ext uri="{909E8E84-426E-40DD-AFC4-6F175D3DCCD1}">
              <a14:hiddenFill xmlns:a14="http://schemas.microsoft.com/office/drawing/2010/main">
                <a:solidFill>
                  <a:srgbClr val="FFFFFF"/>
                </a:solidFill>
              </a14:hiddenFill>
            </a:ext>
          </a:extLst>
        </p:spPr>
      </p:pic>
      <p:pic>
        <p:nvPicPr>
          <p:cNvPr id="2057" name="Picture 9">
            <a:extLst>
              <a:ext uri="{FF2B5EF4-FFF2-40B4-BE49-F238E27FC236}">
                <a16:creationId xmlns:a16="http://schemas.microsoft.com/office/drawing/2014/main" id="{7B023139-9629-3407-57B9-B96634D0E06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rot="21225145">
            <a:off x="8135365" y="1514309"/>
            <a:ext cx="1123704" cy="1302495"/>
          </a:xfrm>
          <a:prstGeom prst="rect">
            <a:avLst/>
          </a:prstGeom>
          <a:noFill/>
          <a:extLst>
            <a:ext uri="{909E8E84-426E-40DD-AFC4-6F175D3DCCD1}">
              <a14:hiddenFill xmlns:a14="http://schemas.microsoft.com/office/drawing/2010/main">
                <a:solidFill>
                  <a:srgbClr val="FFFFFF"/>
                </a:solidFill>
              </a14:hiddenFill>
            </a:ext>
          </a:extLst>
        </p:spPr>
      </p:pic>
      <p:pic>
        <p:nvPicPr>
          <p:cNvPr id="2061" name="Picture 13">
            <a:extLst>
              <a:ext uri="{FF2B5EF4-FFF2-40B4-BE49-F238E27FC236}">
                <a16:creationId xmlns:a16="http://schemas.microsoft.com/office/drawing/2014/main" id="{0FDEE13F-ABC7-2957-E32B-4FAFC9219763}"/>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rot="1450832">
            <a:off x="9322833" y="1710366"/>
            <a:ext cx="1430896" cy="1430896"/>
          </a:xfrm>
          <a:prstGeom prst="rect">
            <a:avLst/>
          </a:prstGeom>
          <a:noFill/>
          <a:extLst>
            <a:ext uri="{909E8E84-426E-40DD-AFC4-6F175D3DCCD1}">
              <a14:hiddenFill xmlns:a14="http://schemas.microsoft.com/office/drawing/2010/main">
                <a:solidFill>
                  <a:srgbClr val="FFFFFF"/>
                </a:solidFill>
              </a14:hiddenFill>
            </a:ext>
          </a:extLst>
        </p:spPr>
      </p:pic>
      <p:pic>
        <p:nvPicPr>
          <p:cNvPr id="2069" name="Picture 21" descr="Matplotlib">
            <a:extLst>
              <a:ext uri="{FF2B5EF4-FFF2-40B4-BE49-F238E27FC236}">
                <a16:creationId xmlns:a16="http://schemas.microsoft.com/office/drawing/2014/main" id="{08CF53AE-0B89-8494-271F-4B3377433872}"/>
              </a:ext>
            </a:extLst>
          </p:cNvPr>
          <p:cNvPicPr>
            <a:picLocks noChangeAspect="1" noChangeArrowheads="1"/>
          </p:cNvPicPr>
          <p:nvPr/>
        </p:nvPicPr>
        <p:blipFill rotWithShape="1">
          <a:blip r:embed="rId5">
            <a:extLst>
              <a:ext uri="{28A0092B-C50C-407E-A947-70E740481C1C}">
                <a14:useLocalDpi xmlns:a14="http://schemas.microsoft.com/office/drawing/2010/main" val="0"/>
              </a:ext>
            </a:extLst>
          </a:blip>
          <a:srcRect t="5139"/>
          <a:stretch>
            <a:fillRect/>
          </a:stretch>
        </p:blipFill>
        <p:spPr bwMode="auto">
          <a:xfrm rot="1709950">
            <a:off x="10135102" y="3571495"/>
            <a:ext cx="1659771" cy="1574475"/>
          </a:xfrm>
          <a:prstGeom prst="rect">
            <a:avLst/>
          </a:prstGeom>
          <a:ln>
            <a:noFill/>
          </a:ln>
          <a:effectLst>
            <a:softEdge rad="112500"/>
          </a:effectLst>
          <a:extLst>
            <a:ext uri="{909E8E84-426E-40DD-AFC4-6F175D3DCCD1}">
              <a14:hiddenFill xmlns:a14="http://schemas.microsoft.com/office/drawing/2010/main">
                <a:solidFill>
                  <a:srgbClr val="FFFFFF"/>
                </a:solidFill>
              </a14:hiddenFill>
            </a:ext>
          </a:extLst>
        </p:spPr>
      </p:pic>
      <p:pic>
        <p:nvPicPr>
          <p:cNvPr id="2063" name="Picture 15" descr="Pandas Essentials: A Deep Dive into DataFrames and Series in Python | by MD  Murslin | Medium">
            <a:extLst>
              <a:ext uri="{FF2B5EF4-FFF2-40B4-BE49-F238E27FC236}">
                <a16:creationId xmlns:a16="http://schemas.microsoft.com/office/drawing/2014/main" id="{B19B27C9-B3CD-8A74-D22C-0DB92E0AB777}"/>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rot="20752888">
            <a:off x="10135410" y="2333613"/>
            <a:ext cx="1572672" cy="1572672"/>
          </a:xfrm>
          <a:prstGeom prst="rect">
            <a:avLst/>
          </a:prstGeom>
          <a:noFill/>
          <a:extLst>
            <a:ext uri="{909E8E84-426E-40DD-AFC4-6F175D3DCCD1}">
              <a14:hiddenFill xmlns:a14="http://schemas.microsoft.com/office/drawing/2010/main">
                <a:solidFill>
                  <a:srgbClr val="FFFFFF"/>
                </a:solidFill>
              </a14:hiddenFill>
            </a:ext>
          </a:extLst>
        </p:spPr>
      </p:pic>
      <p:pic>
        <p:nvPicPr>
          <p:cNvPr id="2071" name="Picture 23" descr="GitHub - mwaskom/seaborn: Statistical ...">
            <a:extLst>
              <a:ext uri="{FF2B5EF4-FFF2-40B4-BE49-F238E27FC236}">
                <a16:creationId xmlns:a16="http://schemas.microsoft.com/office/drawing/2014/main" id="{63AA1476-1D68-43CF-9F66-D518C142AFC5}"/>
              </a:ext>
            </a:extLst>
          </p:cNvPr>
          <p:cNvPicPr>
            <a:picLocks noChangeAspect="1" noChangeArrowheads="1"/>
          </p:cNvPicPr>
          <p:nvPr/>
        </p:nvPicPr>
        <p:blipFill rotWithShape="1">
          <a:blip r:embed="rId7">
            <a:extLst>
              <a:ext uri="{28A0092B-C50C-407E-A947-70E740481C1C}">
                <a14:useLocalDpi xmlns:a14="http://schemas.microsoft.com/office/drawing/2010/main" val="0"/>
              </a:ext>
            </a:extLst>
          </a:blip>
          <a:srcRect b="12830"/>
          <a:stretch>
            <a:fillRect/>
          </a:stretch>
        </p:blipFill>
        <p:spPr bwMode="auto">
          <a:xfrm rot="20665753">
            <a:off x="6186745" y="3423369"/>
            <a:ext cx="1609448" cy="573978"/>
          </a:xfrm>
          <a:prstGeom prst="rect">
            <a:avLst/>
          </a:prstGeom>
          <a:noFill/>
          <a:extLst>
            <a:ext uri="{909E8E84-426E-40DD-AFC4-6F175D3DCCD1}">
              <a14:hiddenFill xmlns:a14="http://schemas.microsoft.com/office/drawing/2010/main">
                <a:solidFill>
                  <a:srgbClr val="FFFFFF"/>
                </a:solidFill>
              </a14:hiddenFill>
            </a:ext>
          </a:extLst>
        </p:spPr>
      </p:pic>
      <p:sp>
        <p:nvSpPr>
          <p:cNvPr id="6" name="Oval 5">
            <a:extLst>
              <a:ext uri="{FF2B5EF4-FFF2-40B4-BE49-F238E27FC236}">
                <a16:creationId xmlns:a16="http://schemas.microsoft.com/office/drawing/2014/main" id="{4E75EB81-4EFC-673E-05DA-748291468817}"/>
              </a:ext>
            </a:extLst>
          </p:cNvPr>
          <p:cNvSpPr/>
          <p:nvPr/>
        </p:nvSpPr>
        <p:spPr>
          <a:xfrm>
            <a:off x="7875917" y="3057940"/>
            <a:ext cx="2314805" cy="1255638"/>
          </a:xfrm>
          <a:prstGeom prst="ellipse">
            <a:avLst/>
          </a:prstGeom>
          <a:solidFill>
            <a:schemeClr val="accent1"/>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b="1" dirty="0">
                <a:solidFill>
                  <a:srgbClr val="213163"/>
                </a:solidFill>
              </a:rPr>
              <a:t>T</a:t>
            </a:r>
            <a:r>
              <a:rPr lang="en-IN" sz="2000" b="1" dirty="0" err="1">
                <a:solidFill>
                  <a:srgbClr val="213163"/>
                </a:solidFill>
              </a:rPr>
              <a:t>ools</a:t>
            </a:r>
            <a:r>
              <a:rPr lang="en-IN" sz="2000" b="1" dirty="0">
                <a:solidFill>
                  <a:srgbClr val="213163"/>
                </a:solidFill>
              </a:rPr>
              <a:t> and Technology Used </a:t>
            </a:r>
          </a:p>
        </p:txBody>
      </p:sp>
      <p:pic>
        <p:nvPicPr>
          <p:cNvPr id="2073" name="Picture 25">
            <a:extLst>
              <a:ext uri="{FF2B5EF4-FFF2-40B4-BE49-F238E27FC236}">
                <a16:creationId xmlns:a16="http://schemas.microsoft.com/office/drawing/2014/main" id="{6ADCD6E6-78A5-56BA-A5EF-EDA5AA40C116}"/>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rot="19957356">
            <a:off x="6537535" y="4054182"/>
            <a:ext cx="1721573" cy="928708"/>
          </a:xfrm>
          <a:prstGeom prst="rect">
            <a:avLst/>
          </a:prstGeom>
          <a:noFill/>
          <a:extLst>
            <a:ext uri="{909E8E84-426E-40DD-AFC4-6F175D3DCCD1}">
              <a14:hiddenFill xmlns:a14="http://schemas.microsoft.com/office/drawing/2010/main">
                <a:solidFill>
                  <a:srgbClr val="FFFFFF"/>
                </a:solidFill>
              </a14:hiddenFill>
            </a:ext>
          </a:extLst>
        </p:spPr>
      </p:pic>
      <p:pic>
        <p:nvPicPr>
          <p:cNvPr id="2075" name="Picture 27" descr="NumPy | Logopedia | Fandom">
            <a:extLst>
              <a:ext uri="{FF2B5EF4-FFF2-40B4-BE49-F238E27FC236}">
                <a16:creationId xmlns:a16="http://schemas.microsoft.com/office/drawing/2014/main" id="{E59983ED-9A1B-32AB-7713-E59E22F8EF7F}"/>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rot="1283133">
            <a:off x="7705394" y="4334435"/>
            <a:ext cx="1578347" cy="1578347"/>
          </a:xfrm>
          <a:prstGeom prst="rect">
            <a:avLst/>
          </a:prstGeom>
          <a:noFill/>
          <a:extLst>
            <a:ext uri="{909E8E84-426E-40DD-AFC4-6F175D3DCCD1}">
              <a14:hiddenFill xmlns:a14="http://schemas.microsoft.com/office/drawing/2010/main">
                <a:solidFill>
                  <a:srgbClr val="FFFFFF"/>
                </a:solidFill>
              </a14:hiddenFill>
            </a:ext>
          </a:extLst>
        </p:spPr>
      </p:pic>
      <p:pic>
        <p:nvPicPr>
          <p:cNvPr id="2077" name="Picture 29" descr="GitHub Logo, symbol, meaning, history, PNG, brand">
            <a:extLst>
              <a:ext uri="{FF2B5EF4-FFF2-40B4-BE49-F238E27FC236}">
                <a16:creationId xmlns:a16="http://schemas.microsoft.com/office/drawing/2014/main" id="{A3CEE2A9-C013-F591-AD4C-01FFBDF9CE7E}"/>
              </a:ext>
            </a:extLst>
          </p:cNvPr>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rot="20303374">
            <a:off x="8568773" y="4311630"/>
            <a:ext cx="2167463" cy="121919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56457126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2361D872-7EC7-439F-A588-B1D90CB7A92F}"/>
              </a:ext>
            </a:extLst>
          </p:cNvPr>
          <p:cNvSpPr txBox="1"/>
          <p:nvPr/>
        </p:nvSpPr>
        <p:spPr>
          <a:xfrm>
            <a:off x="407879" y="801782"/>
            <a:ext cx="6102626" cy="461665"/>
          </a:xfrm>
          <a:prstGeom prst="rect">
            <a:avLst/>
          </a:prstGeom>
          <a:noFill/>
        </p:spPr>
        <p:txBody>
          <a:bodyPr wrap="square">
            <a:spAutoFit/>
          </a:bodyPr>
          <a:lstStyle/>
          <a:p>
            <a:r>
              <a:rPr lang="en-US" sz="2400" b="1" dirty="0">
                <a:solidFill>
                  <a:srgbClr val="213163"/>
                </a:solidFill>
              </a:rPr>
              <a:t>Methodology </a:t>
            </a:r>
            <a:endParaRPr lang="en-IN" sz="2400" dirty="0">
              <a:solidFill>
                <a:srgbClr val="213163"/>
              </a:solidFill>
            </a:endParaRPr>
          </a:p>
        </p:txBody>
      </p:sp>
      <p:cxnSp>
        <p:nvCxnSpPr>
          <p:cNvPr id="2" name="Straight Connector 1">
            <a:extLst>
              <a:ext uri="{FF2B5EF4-FFF2-40B4-BE49-F238E27FC236}">
                <a16:creationId xmlns:a16="http://schemas.microsoft.com/office/drawing/2014/main" id="{FF2B9106-8643-E511-0B39-B818B5B963C7}"/>
              </a:ext>
            </a:extLst>
          </p:cNvPr>
          <p:cNvCxnSpPr/>
          <p:nvPr/>
        </p:nvCxnSpPr>
        <p:spPr>
          <a:xfrm>
            <a:off x="0" y="6479429"/>
            <a:ext cx="12192000" cy="0"/>
          </a:xfrm>
          <a:prstGeom prst="line">
            <a:avLst/>
          </a:prstGeom>
          <a:ln w="12700">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sp>
        <p:nvSpPr>
          <p:cNvPr id="8" name="Arrow: Down 7">
            <a:extLst>
              <a:ext uri="{FF2B5EF4-FFF2-40B4-BE49-F238E27FC236}">
                <a16:creationId xmlns:a16="http://schemas.microsoft.com/office/drawing/2014/main" id="{0109A8F4-5E2E-1CA7-E794-215D50CE1A5B}"/>
              </a:ext>
            </a:extLst>
          </p:cNvPr>
          <p:cNvSpPr/>
          <p:nvPr/>
        </p:nvSpPr>
        <p:spPr>
          <a:xfrm>
            <a:off x="268356" y="1407311"/>
            <a:ext cx="611538" cy="5010742"/>
          </a:xfrm>
          <a:prstGeom prst="downArrow">
            <a:avLst/>
          </a:prstGeom>
          <a:solidFill>
            <a:srgbClr val="92D050"/>
          </a:solidFill>
          <a:ln>
            <a:solidFill>
              <a:srgbClr val="00B050"/>
            </a:solidFill>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solidFill>
                <a:srgbClr val="92D050"/>
              </a:solidFill>
            </a:endParaRPr>
          </a:p>
        </p:txBody>
      </p:sp>
      <p:sp>
        <p:nvSpPr>
          <p:cNvPr id="9" name="Rectangle 8">
            <a:extLst>
              <a:ext uri="{FF2B5EF4-FFF2-40B4-BE49-F238E27FC236}">
                <a16:creationId xmlns:a16="http://schemas.microsoft.com/office/drawing/2014/main" id="{D8BCA8FC-9723-A2C9-2517-D99255334A1B}"/>
              </a:ext>
            </a:extLst>
          </p:cNvPr>
          <p:cNvSpPr/>
          <p:nvPr/>
        </p:nvSpPr>
        <p:spPr>
          <a:xfrm>
            <a:off x="1121434" y="1324823"/>
            <a:ext cx="2337758" cy="862632"/>
          </a:xfrm>
          <a:prstGeom prst="rect">
            <a:avLst/>
          </a:prstGeom>
          <a:solidFill>
            <a:schemeClr val="accent4"/>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b="1" dirty="0"/>
              <a:t>Data Collection</a:t>
            </a:r>
          </a:p>
        </p:txBody>
      </p:sp>
      <p:sp>
        <p:nvSpPr>
          <p:cNvPr id="10" name="Rectangle 9">
            <a:extLst>
              <a:ext uri="{FF2B5EF4-FFF2-40B4-BE49-F238E27FC236}">
                <a16:creationId xmlns:a16="http://schemas.microsoft.com/office/drawing/2014/main" id="{A22BEC12-1809-B67C-75B6-EB9FD3D951C3}"/>
              </a:ext>
            </a:extLst>
          </p:cNvPr>
          <p:cNvSpPr/>
          <p:nvPr/>
        </p:nvSpPr>
        <p:spPr>
          <a:xfrm>
            <a:off x="1121434" y="2760710"/>
            <a:ext cx="2337758" cy="862632"/>
          </a:xfrm>
          <a:prstGeom prst="rect">
            <a:avLst/>
          </a:prstGeom>
          <a:solidFill>
            <a:schemeClr val="accent4"/>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b="1" dirty="0"/>
              <a:t>Data Preprocessing</a:t>
            </a:r>
          </a:p>
        </p:txBody>
      </p:sp>
      <p:sp>
        <p:nvSpPr>
          <p:cNvPr id="11" name="Rectangle 10">
            <a:extLst>
              <a:ext uri="{FF2B5EF4-FFF2-40B4-BE49-F238E27FC236}">
                <a16:creationId xmlns:a16="http://schemas.microsoft.com/office/drawing/2014/main" id="{6ACF6D1F-B704-08FB-C6A0-7418B28F29EA}"/>
              </a:ext>
            </a:extLst>
          </p:cNvPr>
          <p:cNvSpPr/>
          <p:nvPr/>
        </p:nvSpPr>
        <p:spPr>
          <a:xfrm>
            <a:off x="1121434" y="4017464"/>
            <a:ext cx="2337758" cy="862632"/>
          </a:xfrm>
          <a:prstGeom prst="rect">
            <a:avLst/>
          </a:prstGeom>
          <a:solidFill>
            <a:schemeClr val="accent4"/>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Exploratory Data Analysis (EDA) &amp; Visualization</a:t>
            </a:r>
            <a:endParaRPr lang="en-IN" dirty="0"/>
          </a:p>
        </p:txBody>
      </p:sp>
      <p:sp>
        <p:nvSpPr>
          <p:cNvPr id="12" name="Rectangle 11">
            <a:extLst>
              <a:ext uri="{FF2B5EF4-FFF2-40B4-BE49-F238E27FC236}">
                <a16:creationId xmlns:a16="http://schemas.microsoft.com/office/drawing/2014/main" id="{4E800380-2EEC-84C0-8559-ED85B0DFBD4F}"/>
              </a:ext>
            </a:extLst>
          </p:cNvPr>
          <p:cNvSpPr/>
          <p:nvPr/>
        </p:nvSpPr>
        <p:spPr>
          <a:xfrm>
            <a:off x="1121434" y="5274218"/>
            <a:ext cx="2337758" cy="862632"/>
          </a:xfrm>
          <a:prstGeom prst="rect">
            <a:avLst/>
          </a:prstGeom>
          <a:solidFill>
            <a:schemeClr val="accent4"/>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b="1" dirty="0"/>
              <a:t>Feature Selection &amp; Scaling</a:t>
            </a:r>
          </a:p>
        </p:txBody>
      </p:sp>
      <p:sp>
        <p:nvSpPr>
          <p:cNvPr id="13" name="Rectangle 4">
            <a:extLst>
              <a:ext uri="{FF2B5EF4-FFF2-40B4-BE49-F238E27FC236}">
                <a16:creationId xmlns:a16="http://schemas.microsoft.com/office/drawing/2014/main" id="{AC514EBD-2FFC-0C33-56D0-50EADB6549FC}"/>
              </a:ext>
            </a:extLst>
          </p:cNvPr>
          <p:cNvSpPr>
            <a:spLocks noChangeArrowheads="1"/>
          </p:cNvSpPr>
          <p:nvPr/>
        </p:nvSpPr>
        <p:spPr bwMode="auto">
          <a:xfrm>
            <a:off x="3588080" y="1265497"/>
            <a:ext cx="8671982" cy="120032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285750" marR="0" lvl="0" indent="-285750" algn="l" defTabSz="914400" rtl="0" eaLnBrk="0" fontAlgn="base" latinLnBrk="0" hangingPunct="0">
              <a:lnSpc>
                <a:spcPct val="100000"/>
              </a:lnSpc>
              <a:spcBef>
                <a:spcPct val="0"/>
              </a:spcBef>
              <a:spcAft>
                <a:spcPct val="0"/>
              </a:spcAft>
              <a:buClrTx/>
              <a:buSzTx/>
              <a:buFont typeface="Courier New" panose="02070309020205020404" pitchFamily="49" charset="0"/>
              <a:buChar char="o"/>
              <a:tabLst/>
            </a:pPr>
            <a:r>
              <a:rPr kumimoji="0" lang="en-US" altLang="en-US" sz="1800" b="0" i="0" u="none" strike="noStrike" cap="none" normalizeH="0" baseline="0" dirty="0">
                <a:ln>
                  <a:noFill/>
                </a:ln>
                <a:solidFill>
                  <a:schemeClr val="tx1"/>
                </a:solidFill>
                <a:effectLst/>
                <a:latin typeface="Arial" panose="020B0604020202020204" pitchFamily="34" charset="0"/>
              </a:rPr>
              <a:t>The dataset was collected from a multi-sheet Excel file named </a:t>
            </a:r>
            <a:r>
              <a:rPr kumimoji="0" lang="en-US" altLang="en-US" sz="1800" b="1" i="0" u="none" strike="noStrike" cap="none" normalizeH="0" baseline="0" dirty="0">
                <a:ln>
                  <a:noFill/>
                </a:ln>
                <a:solidFill>
                  <a:schemeClr val="tx1"/>
                </a:solidFill>
                <a:effectLst/>
                <a:latin typeface="Arial" panose="020B0604020202020204" pitchFamily="34" charset="0"/>
              </a:rPr>
              <a:t>“SupplyChainEmissionFactorsforUSIndustriesCommodities.xlsx”</a:t>
            </a:r>
            <a:r>
              <a:rPr kumimoji="0" lang="en-US" altLang="en-US" sz="1800" b="0" i="0" u="none" strike="noStrike" cap="none" normalizeH="0" baseline="0" dirty="0">
                <a:ln>
                  <a:noFill/>
                </a:ln>
                <a:solidFill>
                  <a:schemeClr val="tx1"/>
                </a:solidFill>
                <a:effectLst/>
                <a:latin typeface="Arial" panose="020B0604020202020204" pitchFamily="34" charset="0"/>
              </a:rPr>
              <a:t>.</a:t>
            </a:r>
          </a:p>
          <a:p>
            <a:pPr marL="285750" marR="0" lvl="0" indent="-285750" algn="l" defTabSz="914400" rtl="0" eaLnBrk="0" fontAlgn="base" latinLnBrk="0" hangingPunct="0">
              <a:lnSpc>
                <a:spcPct val="100000"/>
              </a:lnSpc>
              <a:spcBef>
                <a:spcPct val="0"/>
              </a:spcBef>
              <a:spcAft>
                <a:spcPct val="0"/>
              </a:spcAft>
              <a:buClrTx/>
              <a:buSzTx/>
              <a:buFont typeface="Courier New" panose="02070309020205020404" pitchFamily="49" charset="0"/>
              <a:buChar char="o"/>
              <a:tabLst/>
            </a:pPr>
            <a:r>
              <a:rPr kumimoji="0" lang="en-US" altLang="en-US" sz="1800" b="0" i="0" u="none" strike="noStrike" cap="none" normalizeH="0" baseline="0" dirty="0">
                <a:ln>
                  <a:noFill/>
                </a:ln>
                <a:solidFill>
                  <a:schemeClr val="tx1"/>
                </a:solidFill>
                <a:effectLst/>
                <a:latin typeface="Arial" panose="020B0604020202020204" pitchFamily="34" charset="0"/>
              </a:rPr>
              <a:t>It includes GHG emission data for U.S. industries and commodities between </a:t>
            </a:r>
            <a:r>
              <a:rPr kumimoji="0" lang="en-US" altLang="en-US" sz="1800" b="1" i="0" u="none" strike="noStrike" cap="none" normalizeH="0" baseline="0" dirty="0">
                <a:ln>
                  <a:noFill/>
                </a:ln>
                <a:solidFill>
                  <a:schemeClr val="tx1"/>
                </a:solidFill>
                <a:effectLst/>
                <a:latin typeface="Arial" panose="020B0604020202020204" pitchFamily="34" charset="0"/>
              </a:rPr>
              <a:t>2010 and 2016</a:t>
            </a:r>
            <a:r>
              <a:rPr kumimoji="0" lang="en-US" altLang="en-US" sz="1800" b="0" i="0" u="none" strike="noStrike" cap="none" normalizeH="0" baseline="0" dirty="0">
                <a:ln>
                  <a:noFill/>
                </a:ln>
                <a:solidFill>
                  <a:schemeClr val="tx1"/>
                </a:solidFill>
                <a:effectLst/>
                <a:latin typeface="Arial" panose="020B0604020202020204" pitchFamily="34" charset="0"/>
              </a:rPr>
              <a:t>.</a:t>
            </a:r>
          </a:p>
        </p:txBody>
      </p:sp>
      <p:sp>
        <p:nvSpPr>
          <p:cNvPr id="15" name="Rectangle 6">
            <a:extLst>
              <a:ext uri="{FF2B5EF4-FFF2-40B4-BE49-F238E27FC236}">
                <a16:creationId xmlns:a16="http://schemas.microsoft.com/office/drawing/2014/main" id="{3486D562-D586-41EC-75B9-DE804C0FA231}"/>
              </a:ext>
            </a:extLst>
          </p:cNvPr>
          <p:cNvSpPr>
            <a:spLocks noChangeArrowheads="1"/>
          </p:cNvSpPr>
          <p:nvPr/>
        </p:nvSpPr>
        <p:spPr bwMode="auto">
          <a:xfrm>
            <a:off x="3588080" y="2695435"/>
            <a:ext cx="8511594" cy="9233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285750" marR="0" lvl="0" indent="-285750" algn="l" defTabSz="914400" rtl="0" eaLnBrk="0" fontAlgn="base" latinLnBrk="0" hangingPunct="0">
              <a:lnSpc>
                <a:spcPct val="100000"/>
              </a:lnSpc>
              <a:spcBef>
                <a:spcPct val="0"/>
              </a:spcBef>
              <a:spcAft>
                <a:spcPct val="0"/>
              </a:spcAft>
              <a:buClrTx/>
              <a:buSzTx/>
              <a:buFont typeface="Courier New" panose="02070309020205020404" pitchFamily="49" charset="0"/>
              <a:buChar char="o"/>
              <a:tabLst/>
            </a:pPr>
            <a:r>
              <a:rPr kumimoji="0" lang="en-US" altLang="en-US" sz="1800" b="0" i="0" u="none" strike="noStrike" cap="none" normalizeH="0" baseline="0" dirty="0">
                <a:ln>
                  <a:noFill/>
                </a:ln>
                <a:solidFill>
                  <a:schemeClr val="tx1"/>
                </a:solidFill>
                <a:effectLst/>
                <a:latin typeface="Arial" panose="020B0604020202020204" pitchFamily="34" charset="0"/>
              </a:rPr>
              <a:t>Read relevant sheets like </a:t>
            </a:r>
            <a:r>
              <a:rPr kumimoji="0" lang="en-US" altLang="en-US" sz="1800" b="0" i="0" u="none" strike="noStrike" cap="none" normalizeH="0" baseline="0" dirty="0">
                <a:ln>
                  <a:noFill/>
                </a:ln>
                <a:solidFill>
                  <a:schemeClr val="tx1"/>
                </a:solidFill>
                <a:effectLst/>
                <a:latin typeface="Arial Unicode MS"/>
              </a:rPr>
              <a:t>2010_Detail_Commodity</a:t>
            </a:r>
            <a:r>
              <a:rPr kumimoji="0" lang="en-US" altLang="en-US" sz="1800" b="0" i="0" u="none" strike="noStrike" cap="none" normalizeH="0" baseline="0" dirty="0">
                <a:ln>
                  <a:noFill/>
                </a:ln>
                <a:solidFill>
                  <a:schemeClr val="tx1"/>
                </a:solidFill>
                <a:effectLst/>
              </a:rPr>
              <a:t> and </a:t>
            </a:r>
            <a:r>
              <a:rPr kumimoji="0" lang="en-US" altLang="en-US" sz="1800" b="0" i="0" u="none" strike="noStrike" cap="none" normalizeH="0" baseline="0" dirty="0">
                <a:ln>
                  <a:noFill/>
                </a:ln>
                <a:solidFill>
                  <a:schemeClr val="tx1"/>
                </a:solidFill>
                <a:effectLst/>
                <a:latin typeface="Arial Unicode MS"/>
              </a:rPr>
              <a:t>2010_Detail_Industry</a:t>
            </a:r>
            <a:r>
              <a:rPr kumimoji="0" lang="en-US" altLang="en-US" sz="1800" b="0" i="0" u="none" strike="noStrike" cap="none" normalizeH="0" baseline="0" dirty="0">
                <a:ln>
                  <a:noFill/>
                </a:ln>
                <a:solidFill>
                  <a:schemeClr val="tx1"/>
                </a:solidFill>
                <a:effectLst/>
              </a:rPr>
              <a:t>.</a:t>
            </a: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285750" marR="0" lvl="0" indent="-285750" algn="l" defTabSz="914400" rtl="0" eaLnBrk="0" fontAlgn="base" latinLnBrk="0" hangingPunct="0">
              <a:lnSpc>
                <a:spcPct val="100000"/>
              </a:lnSpc>
              <a:spcBef>
                <a:spcPct val="0"/>
              </a:spcBef>
              <a:spcAft>
                <a:spcPct val="0"/>
              </a:spcAft>
              <a:buClrTx/>
              <a:buSzTx/>
              <a:buFont typeface="Courier New" panose="02070309020205020404" pitchFamily="49" charset="0"/>
              <a:buChar char="o"/>
              <a:tabLst/>
            </a:pPr>
            <a:r>
              <a:rPr kumimoji="0" lang="en-US" altLang="en-US" sz="1800" b="0" i="0" u="none" strike="noStrike" cap="none" normalizeH="0" baseline="0" dirty="0">
                <a:ln>
                  <a:noFill/>
                </a:ln>
                <a:solidFill>
                  <a:schemeClr val="tx1"/>
                </a:solidFill>
                <a:effectLst/>
                <a:latin typeface="Arial" panose="020B0604020202020204" pitchFamily="34" charset="0"/>
              </a:rPr>
              <a:t>Removed null or missing values and dropped unnecessary columns.</a:t>
            </a:r>
          </a:p>
          <a:p>
            <a:pPr marL="285750" marR="0" lvl="0" indent="-285750" algn="l" defTabSz="914400" rtl="0" eaLnBrk="0" fontAlgn="base" latinLnBrk="0" hangingPunct="0">
              <a:lnSpc>
                <a:spcPct val="100000"/>
              </a:lnSpc>
              <a:spcBef>
                <a:spcPct val="0"/>
              </a:spcBef>
              <a:spcAft>
                <a:spcPct val="0"/>
              </a:spcAft>
              <a:buClrTx/>
              <a:buSzTx/>
              <a:buFont typeface="Courier New" panose="02070309020205020404" pitchFamily="49" charset="0"/>
              <a:buChar char="o"/>
              <a:tabLst/>
            </a:pPr>
            <a:r>
              <a:rPr kumimoji="0" lang="en-US" altLang="en-US" sz="1800" b="0" i="0" u="none" strike="noStrike" cap="none" normalizeH="0" baseline="0" dirty="0">
                <a:ln>
                  <a:noFill/>
                </a:ln>
                <a:solidFill>
                  <a:schemeClr val="tx1"/>
                </a:solidFill>
                <a:effectLst/>
                <a:latin typeface="Arial" panose="020B0604020202020204" pitchFamily="34" charset="0"/>
              </a:rPr>
              <a:t>Converted data types if needed for consistency (e.g., year, emission values).</a:t>
            </a:r>
          </a:p>
        </p:txBody>
      </p:sp>
      <p:sp>
        <p:nvSpPr>
          <p:cNvPr id="16" name="Rectangle 7">
            <a:extLst>
              <a:ext uri="{FF2B5EF4-FFF2-40B4-BE49-F238E27FC236}">
                <a16:creationId xmlns:a16="http://schemas.microsoft.com/office/drawing/2014/main" id="{3A18461E-02A9-F600-9DC1-6D975F84A734}"/>
              </a:ext>
            </a:extLst>
          </p:cNvPr>
          <p:cNvSpPr>
            <a:spLocks noChangeArrowheads="1"/>
          </p:cNvSpPr>
          <p:nvPr/>
        </p:nvSpPr>
        <p:spPr bwMode="auto">
          <a:xfrm>
            <a:off x="3588079" y="3956766"/>
            <a:ext cx="8511595" cy="9233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285750" marR="0" lvl="0" indent="-285750" algn="l" defTabSz="914400" rtl="0" eaLnBrk="0" fontAlgn="base" latinLnBrk="0" hangingPunct="0">
              <a:lnSpc>
                <a:spcPct val="100000"/>
              </a:lnSpc>
              <a:spcBef>
                <a:spcPct val="0"/>
              </a:spcBef>
              <a:spcAft>
                <a:spcPct val="0"/>
              </a:spcAft>
              <a:buClrTx/>
              <a:buSzTx/>
              <a:buFont typeface="Courier New" panose="02070309020205020404" pitchFamily="49" charset="0"/>
              <a:buChar char="o"/>
              <a:tabLst/>
            </a:pPr>
            <a:r>
              <a:rPr kumimoji="0" lang="en-US" altLang="en-US" sz="1800" b="0" i="0" u="none" strike="noStrike" cap="none" normalizeH="0" baseline="0" dirty="0">
                <a:ln>
                  <a:noFill/>
                </a:ln>
                <a:solidFill>
                  <a:schemeClr val="tx1"/>
                </a:solidFill>
                <a:effectLst/>
                <a:latin typeface="Arial" panose="020B0604020202020204" pitchFamily="34" charset="0"/>
              </a:rPr>
              <a:t>Visualized top emission-producing industries and commodities using </a:t>
            </a:r>
            <a:r>
              <a:rPr kumimoji="0" lang="en-US" altLang="en-US" sz="1800" b="1" i="0" u="none" strike="noStrike" cap="none" normalizeH="0" baseline="0" dirty="0">
                <a:ln>
                  <a:noFill/>
                </a:ln>
                <a:solidFill>
                  <a:schemeClr val="tx1"/>
                </a:solidFill>
                <a:effectLst/>
                <a:latin typeface="Arial" panose="020B0604020202020204" pitchFamily="34" charset="0"/>
              </a:rPr>
              <a:t>bar charts, line graphs, and heatmaps</a:t>
            </a:r>
            <a:r>
              <a:rPr kumimoji="0" lang="en-US" altLang="en-US" sz="1800" b="0" i="0" u="none" strike="noStrike" cap="none" normalizeH="0" baseline="0" dirty="0">
                <a:ln>
                  <a:noFill/>
                </a:ln>
                <a:solidFill>
                  <a:schemeClr val="tx1"/>
                </a:solidFill>
                <a:effectLst/>
                <a:latin typeface="Arial" panose="020B0604020202020204" pitchFamily="34" charset="0"/>
              </a:rPr>
              <a:t>.</a:t>
            </a:r>
          </a:p>
          <a:p>
            <a:pPr marL="285750" marR="0" lvl="0" indent="-285750" algn="l" defTabSz="914400" rtl="0" eaLnBrk="0" fontAlgn="base" latinLnBrk="0" hangingPunct="0">
              <a:lnSpc>
                <a:spcPct val="100000"/>
              </a:lnSpc>
              <a:spcBef>
                <a:spcPct val="0"/>
              </a:spcBef>
              <a:spcAft>
                <a:spcPct val="0"/>
              </a:spcAft>
              <a:buClrTx/>
              <a:buSzTx/>
              <a:buFont typeface="Courier New" panose="02070309020205020404" pitchFamily="49" charset="0"/>
              <a:buChar char="o"/>
              <a:tabLst/>
            </a:pPr>
            <a:r>
              <a:rPr kumimoji="0" lang="en-US" altLang="en-US" sz="1800" b="0" i="0" u="none" strike="noStrike" cap="none" normalizeH="0" baseline="0" dirty="0">
                <a:ln>
                  <a:noFill/>
                </a:ln>
                <a:solidFill>
                  <a:schemeClr val="tx1"/>
                </a:solidFill>
                <a:effectLst/>
                <a:latin typeface="Arial" panose="020B0604020202020204" pitchFamily="34" charset="0"/>
              </a:rPr>
              <a:t>Identified trends in emissions over the years using </a:t>
            </a:r>
            <a:r>
              <a:rPr kumimoji="0" lang="en-US" altLang="en-US" sz="1800" b="1" i="0" u="none" strike="noStrike" cap="none" normalizeH="0" baseline="0" dirty="0">
                <a:ln>
                  <a:noFill/>
                </a:ln>
                <a:solidFill>
                  <a:schemeClr val="tx1"/>
                </a:solidFill>
                <a:effectLst/>
                <a:latin typeface="Arial" panose="020B0604020202020204" pitchFamily="34" charset="0"/>
              </a:rPr>
              <a:t>Seaborn</a:t>
            </a:r>
            <a:r>
              <a:rPr kumimoji="0" lang="en-US" altLang="en-US" sz="1800" b="0" i="0" u="none" strike="noStrike" cap="none" normalizeH="0" baseline="0" dirty="0">
                <a:ln>
                  <a:noFill/>
                </a:ln>
                <a:solidFill>
                  <a:schemeClr val="tx1"/>
                </a:solidFill>
                <a:effectLst/>
                <a:latin typeface="Arial" panose="020B0604020202020204" pitchFamily="34" charset="0"/>
              </a:rPr>
              <a:t> and </a:t>
            </a:r>
            <a:r>
              <a:rPr kumimoji="0" lang="en-US" altLang="en-US" sz="1800" b="1" i="0" u="none" strike="noStrike" cap="none" normalizeH="0" baseline="0" dirty="0">
                <a:ln>
                  <a:noFill/>
                </a:ln>
                <a:solidFill>
                  <a:schemeClr val="tx1"/>
                </a:solidFill>
                <a:effectLst/>
                <a:latin typeface="Arial" panose="020B0604020202020204" pitchFamily="34" charset="0"/>
              </a:rPr>
              <a:t>Matplotlib</a:t>
            </a:r>
            <a:r>
              <a:rPr kumimoji="0" lang="en-US" altLang="en-US" sz="1800" b="0" i="0" u="none" strike="noStrike" cap="none" normalizeH="0" baseline="0" dirty="0">
                <a:ln>
                  <a:noFill/>
                </a:ln>
                <a:solidFill>
                  <a:schemeClr val="tx1"/>
                </a:solidFill>
                <a:effectLst/>
                <a:latin typeface="Arial" panose="020B0604020202020204" pitchFamily="34" charset="0"/>
              </a:rPr>
              <a:t>.</a:t>
            </a:r>
          </a:p>
        </p:txBody>
      </p:sp>
      <p:sp>
        <p:nvSpPr>
          <p:cNvPr id="17" name="Rectangle 8">
            <a:extLst>
              <a:ext uri="{FF2B5EF4-FFF2-40B4-BE49-F238E27FC236}">
                <a16:creationId xmlns:a16="http://schemas.microsoft.com/office/drawing/2014/main" id="{4F71BF79-11E8-FC1A-D062-5728F4DE04FA}"/>
              </a:ext>
            </a:extLst>
          </p:cNvPr>
          <p:cNvSpPr>
            <a:spLocks noChangeArrowheads="1"/>
          </p:cNvSpPr>
          <p:nvPr/>
        </p:nvSpPr>
        <p:spPr bwMode="auto">
          <a:xfrm>
            <a:off x="3588079" y="5217724"/>
            <a:ext cx="8103812" cy="120032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285750" marR="0" lvl="0" indent="-285750" algn="l" defTabSz="914400" rtl="0" eaLnBrk="0" fontAlgn="base" latinLnBrk="0" hangingPunct="0">
              <a:lnSpc>
                <a:spcPct val="100000"/>
              </a:lnSpc>
              <a:spcBef>
                <a:spcPct val="0"/>
              </a:spcBef>
              <a:spcAft>
                <a:spcPct val="0"/>
              </a:spcAft>
              <a:buClrTx/>
              <a:buSzTx/>
              <a:buFont typeface="Courier New" panose="02070309020205020404" pitchFamily="49" charset="0"/>
              <a:buChar char="o"/>
              <a:tabLst/>
            </a:pPr>
            <a:r>
              <a:rPr kumimoji="0" lang="en-US" altLang="en-US" sz="1800" b="0" i="0" u="none" strike="noStrike" cap="none" normalizeH="0" baseline="0">
                <a:ln>
                  <a:noFill/>
                </a:ln>
                <a:solidFill>
                  <a:schemeClr val="tx1"/>
                </a:solidFill>
                <a:effectLst/>
                <a:latin typeface="Arial" panose="020B0604020202020204" pitchFamily="34" charset="0"/>
              </a:rPr>
              <a:t>Selected meaningful features such as </a:t>
            </a:r>
            <a:r>
              <a:rPr kumimoji="0" lang="en-US" altLang="en-US" sz="1800" b="1" i="0" u="none" strike="noStrike" cap="none" normalizeH="0" baseline="0">
                <a:ln>
                  <a:noFill/>
                </a:ln>
                <a:solidFill>
                  <a:schemeClr val="tx1"/>
                </a:solidFill>
                <a:effectLst/>
                <a:latin typeface="Arial" panose="020B0604020202020204" pitchFamily="34" charset="0"/>
              </a:rPr>
              <a:t>sector codes, description, and total emissions</a:t>
            </a:r>
            <a:r>
              <a:rPr kumimoji="0" lang="en-US" altLang="en-US" sz="1800" b="0" i="0" u="none" strike="noStrike" cap="none" normalizeH="0" baseline="0">
                <a:ln>
                  <a:noFill/>
                </a:ln>
                <a:solidFill>
                  <a:schemeClr val="tx1"/>
                </a:solidFill>
                <a:effectLst/>
                <a:latin typeface="Arial" panose="020B0604020202020204" pitchFamily="34" charset="0"/>
              </a:rPr>
              <a:t>.</a:t>
            </a:r>
          </a:p>
          <a:p>
            <a:pPr marL="285750" marR="0" lvl="0" indent="-285750" algn="l" defTabSz="914400" rtl="0" eaLnBrk="0" fontAlgn="base" latinLnBrk="0" hangingPunct="0">
              <a:lnSpc>
                <a:spcPct val="100000"/>
              </a:lnSpc>
              <a:spcBef>
                <a:spcPct val="0"/>
              </a:spcBef>
              <a:spcAft>
                <a:spcPct val="0"/>
              </a:spcAft>
              <a:buClrTx/>
              <a:buSzTx/>
              <a:buFont typeface="Courier New" panose="02070309020205020404" pitchFamily="49" charset="0"/>
              <a:buChar char="o"/>
              <a:tabLst/>
            </a:pPr>
            <a:r>
              <a:rPr kumimoji="0" lang="en-US" altLang="en-US" sz="1800" b="0" i="0" u="none" strike="noStrike" cap="none" normalizeH="0" baseline="0">
                <a:ln>
                  <a:noFill/>
                </a:ln>
                <a:solidFill>
                  <a:schemeClr val="tx1"/>
                </a:solidFill>
                <a:effectLst/>
                <a:latin typeface="Arial" panose="020B0604020202020204" pitchFamily="34" charset="0"/>
              </a:rPr>
              <a:t>Applied </a:t>
            </a:r>
            <a:r>
              <a:rPr kumimoji="0" lang="en-US" altLang="en-US" sz="1800" b="1" i="0" u="none" strike="noStrike" cap="none" normalizeH="0" baseline="0">
                <a:ln>
                  <a:noFill/>
                </a:ln>
                <a:solidFill>
                  <a:schemeClr val="tx1"/>
                </a:solidFill>
                <a:effectLst/>
                <a:latin typeface="Arial" panose="020B0604020202020204" pitchFamily="34" charset="0"/>
              </a:rPr>
              <a:t>StandardScaler</a:t>
            </a:r>
            <a:r>
              <a:rPr kumimoji="0" lang="en-US" altLang="en-US" sz="1800" b="0" i="0" u="none" strike="noStrike" cap="none" normalizeH="0" baseline="0">
                <a:ln>
                  <a:noFill/>
                </a:ln>
                <a:solidFill>
                  <a:schemeClr val="tx1"/>
                </a:solidFill>
                <a:effectLst/>
                <a:latin typeface="Arial" panose="020B0604020202020204" pitchFamily="34" charset="0"/>
              </a:rPr>
              <a:t> to normalize the data for better model performance.</a:t>
            </a:r>
          </a:p>
        </p:txBody>
      </p:sp>
    </p:spTree>
    <p:extLst>
      <p:ext uri="{BB962C8B-B14F-4D97-AF65-F5344CB8AC3E}">
        <p14:creationId xmlns:p14="http://schemas.microsoft.com/office/powerpoint/2010/main" val="270679001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1591C55-1E18-8C58-6A04-B010AB9D89BA}"/>
            </a:ext>
          </a:extLst>
        </p:cNvPr>
        <p:cNvGrpSpPr/>
        <p:nvPr/>
      </p:nvGrpSpPr>
      <p:grpSpPr>
        <a:xfrm>
          <a:off x="0" y="0"/>
          <a:ext cx="0" cy="0"/>
          <a:chOff x="0" y="0"/>
          <a:chExt cx="0" cy="0"/>
        </a:xfrm>
      </p:grpSpPr>
      <p:cxnSp>
        <p:nvCxnSpPr>
          <p:cNvPr id="2" name="Straight Connector 1">
            <a:extLst>
              <a:ext uri="{FF2B5EF4-FFF2-40B4-BE49-F238E27FC236}">
                <a16:creationId xmlns:a16="http://schemas.microsoft.com/office/drawing/2014/main" id="{43EAEE0F-733A-E1F3-3DBA-9FE3E3E251AA}"/>
              </a:ext>
            </a:extLst>
          </p:cNvPr>
          <p:cNvCxnSpPr/>
          <p:nvPr/>
        </p:nvCxnSpPr>
        <p:spPr>
          <a:xfrm>
            <a:off x="0" y="6604985"/>
            <a:ext cx="12192000" cy="0"/>
          </a:xfrm>
          <a:prstGeom prst="line">
            <a:avLst/>
          </a:prstGeom>
          <a:ln w="12700">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sp>
        <p:nvSpPr>
          <p:cNvPr id="6" name="Arrow: Down 5">
            <a:extLst>
              <a:ext uri="{FF2B5EF4-FFF2-40B4-BE49-F238E27FC236}">
                <a16:creationId xmlns:a16="http://schemas.microsoft.com/office/drawing/2014/main" id="{84CF7CC1-C6F4-39AF-BA08-F539FF66BD2F}"/>
              </a:ext>
            </a:extLst>
          </p:cNvPr>
          <p:cNvSpPr/>
          <p:nvPr/>
        </p:nvSpPr>
        <p:spPr>
          <a:xfrm>
            <a:off x="268356" y="1158961"/>
            <a:ext cx="611538" cy="5303983"/>
          </a:xfrm>
          <a:prstGeom prst="downArrow">
            <a:avLst/>
          </a:prstGeom>
          <a:solidFill>
            <a:srgbClr val="92D050"/>
          </a:solidFill>
          <a:ln>
            <a:solidFill>
              <a:srgbClr val="00B050"/>
            </a:solidFill>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solidFill>
                <a:srgbClr val="92D050"/>
              </a:solidFill>
            </a:endParaRPr>
          </a:p>
        </p:txBody>
      </p:sp>
      <p:sp>
        <p:nvSpPr>
          <p:cNvPr id="8" name="Rectangle 7">
            <a:extLst>
              <a:ext uri="{FF2B5EF4-FFF2-40B4-BE49-F238E27FC236}">
                <a16:creationId xmlns:a16="http://schemas.microsoft.com/office/drawing/2014/main" id="{FE17A900-9552-0902-149B-9973317E0945}"/>
              </a:ext>
            </a:extLst>
          </p:cNvPr>
          <p:cNvSpPr/>
          <p:nvPr/>
        </p:nvSpPr>
        <p:spPr>
          <a:xfrm>
            <a:off x="1008232" y="1189807"/>
            <a:ext cx="2337758" cy="862632"/>
          </a:xfrm>
          <a:prstGeom prst="rect">
            <a:avLst/>
          </a:prstGeom>
          <a:solidFill>
            <a:schemeClr val="accent4"/>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b="1"/>
              <a:t>Model Building</a:t>
            </a:r>
          </a:p>
        </p:txBody>
      </p:sp>
      <p:sp>
        <p:nvSpPr>
          <p:cNvPr id="9" name="Rectangle 8">
            <a:extLst>
              <a:ext uri="{FF2B5EF4-FFF2-40B4-BE49-F238E27FC236}">
                <a16:creationId xmlns:a16="http://schemas.microsoft.com/office/drawing/2014/main" id="{58E0EAB4-33AB-AF19-D47A-D2FFCFB9E4A7}"/>
              </a:ext>
            </a:extLst>
          </p:cNvPr>
          <p:cNvSpPr/>
          <p:nvPr/>
        </p:nvSpPr>
        <p:spPr>
          <a:xfrm>
            <a:off x="1008232" y="2273984"/>
            <a:ext cx="2337758" cy="862632"/>
          </a:xfrm>
          <a:prstGeom prst="rect">
            <a:avLst/>
          </a:prstGeom>
          <a:solidFill>
            <a:schemeClr val="accent4"/>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b="1" dirty="0"/>
              <a:t>Model Training</a:t>
            </a:r>
          </a:p>
        </p:txBody>
      </p:sp>
      <p:sp>
        <p:nvSpPr>
          <p:cNvPr id="10" name="Rectangle 9">
            <a:extLst>
              <a:ext uri="{FF2B5EF4-FFF2-40B4-BE49-F238E27FC236}">
                <a16:creationId xmlns:a16="http://schemas.microsoft.com/office/drawing/2014/main" id="{04603409-B3AC-D9A2-4C12-421AD4AEF77C}"/>
              </a:ext>
            </a:extLst>
          </p:cNvPr>
          <p:cNvSpPr/>
          <p:nvPr/>
        </p:nvSpPr>
        <p:spPr>
          <a:xfrm>
            <a:off x="1008232" y="3358161"/>
            <a:ext cx="2337758" cy="862632"/>
          </a:xfrm>
          <a:prstGeom prst="rect">
            <a:avLst/>
          </a:prstGeom>
          <a:solidFill>
            <a:schemeClr val="accent4"/>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b="1"/>
              <a:t>Model Evaluation</a:t>
            </a:r>
            <a:endParaRPr lang="en-IN" b="1" dirty="0"/>
          </a:p>
        </p:txBody>
      </p:sp>
      <p:sp>
        <p:nvSpPr>
          <p:cNvPr id="11" name="Rectangle 10">
            <a:extLst>
              <a:ext uri="{FF2B5EF4-FFF2-40B4-BE49-F238E27FC236}">
                <a16:creationId xmlns:a16="http://schemas.microsoft.com/office/drawing/2014/main" id="{BC2508EC-812D-F335-8A3D-DC216E7380C5}"/>
              </a:ext>
            </a:extLst>
          </p:cNvPr>
          <p:cNvSpPr/>
          <p:nvPr/>
        </p:nvSpPr>
        <p:spPr>
          <a:xfrm>
            <a:off x="1008232" y="4468892"/>
            <a:ext cx="2337758" cy="862632"/>
          </a:xfrm>
          <a:prstGeom prst="rect">
            <a:avLst/>
          </a:prstGeom>
          <a:solidFill>
            <a:schemeClr val="accent4"/>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b="1"/>
              <a:t>Output and Visualization</a:t>
            </a:r>
            <a:endParaRPr lang="en-IN" b="1" dirty="0"/>
          </a:p>
        </p:txBody>
      </p:sp>
      <p:sp>
        <p:nvSpPr>
          <p:cNvPr id="12" name="Rectangle 11">
            <a:extLst>
              <a:ext uri="{FF2B5EF4-FFF2-40B4-BE49-F238E27FC236}">
                <a16:creationId xmlns:a16="http://schemas.microsoft.com/office/drawing/2014/main" id="{AA77ECF4-A4DA-7B13-CECB-E948B0C5795E}"/>
              </a:ext>
            </a:extLst>
          </p:cNvPr>
          <p:cNvSpPr/>
          <p:nvPr/>
        </p:nvSpPr>
        <p:spPr>
          <a:xfrm>
            <a:off x="1008232" y="5610674"/>
            <a:ext cx="2337758" cy="862632"/>
          </a:xfrm>
          <a:prstGeom prst="rect">
            <a:avLst/>
          </a:prstGeom>
          <a:solidFill>
            <a:schemeClr val="accent4"/>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b="1" dirty="0"/>
              <a:t>Local Deployment</a:t>
            </a:r>
          </a:p>
        </p:txBody>
      </p:sp>
      <p:sp>
        <p:nvSpPr>
          <p:cNvPr id="13" name="Rectangle 1">
            <a:extLst>
              <a:ext uri="{FF2B5EF4-FFF2-40B4-BE49-F238E27FC236}">
                <a16:creationId xmlns:a16="http://schemas.microsoft.com/office/drawing/2014/main" id="{CE35ED26-B082-B5E3-8A18-259402622536}"/>
              </a:ext>
            </a:extLst>
          </p:cNvPr>
          <p:cNvSpPr>
            <a:spLocks noChangeArrowheads="1"/>
          </p:cNvSpPr>
          <p:nvPr/>
        </p:nvSpPr>
        <p:spPr bwMode="auto">
          <a:xfrm>
            <a:off x="3345990" y="1158962"/>
            <a:ext cx="9402344" cy="9233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285750" marR="0" lvl="0" indent="-285750" algn="l" defTabSz="914400" rtl="0" eaLnBrk="0" fontAlgn="base" latinLnBrk="0" hangingPunct="0">
              <a:lnSpc>
                <a:spcPct val="100000"/>
              </a:lnSpc>
              <a:spcBef>
                <a:spcPct val="0"/>
              </a:spcBef>
              <a:spcAft>
                <a:spcPct val="0"/>
              </a:spcAft>
              <a:buClrTx/>
              <a:buSzTx/>
              <a:buFont typeface="Courier New" panose="02070309020205020404" pitchFamily="49" charset="0"/>
              <a:buChar char="o"/>
              <a:tabLst/>
            </a:pPr>
            <a:r>
              <a:rPr kumimoji="0" lang="en-US" altLang="en-US" sz="1800" b="0" i="0" u="none" strike="noStrike" cap="none" normalizeH="0" baseline="0" dirty="0">
                <a:ln>
                  <a:noFill/>
                </a:ln>
                <a:solidFill>
                  <a:schemeClr val="tx1"/>
                </a:solidFill>
                <a:effectLst/>
                <a:latin typeface="Arial" panose="020B0604020202020204" pitchFamily="34" charset="0"/>
              </a:rPr>
              <a:t>Built a </a:t>
            </a:r>
            <a:r>
              <a:rPr kumimoji="0" lang="en-US" altLang="en-US" sz="1800" b="1" i="0" u="none" strike="noStrike" cap="none" normalizeH="0" baseline="0" dirty="0">
                <a:ln>
                  <a:noFill/>
                </a:ln>
                <a:solidFill>
                  <a:schemeClr val="tx1"/>
                </a:solidFill>
                <a:effectLst/>
                <a:latin typeface="Arial" panose="020B0604020202020204" pitchFamily="34" charset="0"/>
              </a:rPr>
              <a:t>Random Forest Regressor</a:t>
            </a:r>
            <a:r>
              <a:rPr kumimoji="0" lang="en-US" altLang="en-US" sz="1800" b="0" i="0" u="none" strike="noStrike" cap="none" normalizeH="0" baseline="0" dirty="0">
                <a:ln>
                  <a:noFill/>
                </a:ln>
                <a:solidFill>
                  <a:schemeClr val="tx1"/>
                </a:solidFill>
                <a:effectLst/>
                <a:latin typeface="Arial" panose="020B0604020202020204" pitchFamily="34" charset="0"/>
              </a:rPr>
              <a:t> as the main prediction model.</a:t>
            </a:r>
          </a:p>
          <a:p>
            <a:pPr marL="285750" marR="0" lvl="0" indent="-285750" algn="l" defTabSz="914400" rtl="0" eaLnBrk="0" fontAlgn="base" latinLnBrk="0" hangingPunct="0">
              <a:lnSpc>
                <a:spcPct val="100000"/>
              </a:lnSpc>
              <a:spcBef>
                <a:spcPct val="0"/>
              </a:spcBef>
              <a:spcAft>
                <a:spcPct val="0"/>
              </a:spcAft>
              <a:buClrTx/>
              <a:buSzTx/>
              <a:buFont typeface="Courier New" panose="02070309020205020404" pitchFamily="49" charset="0"/>
              <a:buChar char="o"/>
              <a:tabLst/>
            </a:pPr>
            <a:r>
              <a:rPr kumimoji="0" lang="en-US" altLang="en-US" sz="1800" b="0" i="0" u="none" strike="noStrike" cap="none" normalizeH="0" baseline="0" dirty="0">
                <a:ln>
                  <a:noFill/>
                </a:ln>
                <a:solidFill>
                  <a:schemeClr val="tx1"/>
                </a:solidFill>
                <a:effectLst/>
                <a:latin typeface="Arial" panose="020B0604020202020204" pitchFamily="34" charset="0"/>
              </a:rPr>
              <a:t>Also experimented with </a:t>
            </a:r>
            <a:r>
              <a:rPr kumimoji="0" lang="en-US" altLang="en-US" sz="1800" b="1" i="0" u="none" strike="noStrike" cap="none" normalizeH="0" baseline="0" dirty="0">
                <a:ln>
                  <a:noFill/>
                </a:ln>
                <a:solidFill>
                  <a:schemeClr val="tx1"/>
                </a:solidFill>
                <a:effectLst/>
                <a:latin typeface="Arial" panose="020B0604020202020204" pitchFamily="34" charset="0"/>
              </a:rPr>
              <a:t>Linear Regression</a:t>
            </a:r>
            <a:r>
              <a:rPr kumimoji="0" lang="en-US" altLang="en-US" sz="1800" b="0" i="0" u="none" strike="noStrike" cap="none" normalizeH="0" baseline="0" dirty="0">
                <a:ln>
                  <a:noFill/>
                </a:ln>
                <a:solidFill>
                  <a:schemeClr val="tx1"/>
                </a:solidFill>
                <a:effectLst/>
                <a:latin typeface="Arial" panose="020B0604020202020204" pitchFamily="34" charset="0"/>
              </a:rPr>
              <a:t> for comparison.</a:t>
            </a:r>
          </a:p>
          <a:p>
            <a:pPr marL="285750" marR="0" lvl="0" indent="-285750" algn="l" defTabSz="914400" rtl="0" eaLnBrk="0" fontAlgn="base" latinLnBrk="0" hangingPunct="0">
              <a:lnSpc>
                <a:spcPct val="100000"/>
              </a:lnSpc>
              <a:spcBef>
                <a:spcPct val="0"/>
              </a:spcBef>
              <a:spcAft>
                <a:spcPct val="0"/>
              </a:spcAft>
              <a:buClrTx/>
              <a:buSzTx/>
              <a:buFont typeface="Courier New" panose="02070309020205020404" pitchFamily="49" charset="0"/>
              <a:buChar char="o"/>
              <a:tabLst/>
            </a:pPr>
            <a:r>
              <a:rPr kumimoji="0" lang="en-US" altLang="en-US" sz="1800" b="0" i="0" u="none" strike="noStrike" cap="none" normalizeH="0" baseline="0" dirty="0">
                <a:ln>
                  <a:noFill/>
                </a:ln>
                <a:solidFill>
                  <a:schemeClr val="tx1"/>
                </a:solidFill>
                <a:effectLst/>
                <a:latin typeface="Arial" panose="020B0604020202020204" pitchFamily="34" charset="0"/>
              </a:rPr>
              <a:t>Split the dataset into </a:t>
            </a:r>
            <a:r>
              <a:rPr kumimoji="0" lang="en-US" altLang="en-US" sz="1800" b="1" i="0" u="none" strike="noStrike" cap="none" normalizeH="0" baseline="0" dirty="0">
                <a:ln>
                  <a:noFill/>
                </a:ln>
                <a:solidFill>
                  <a:schemeClr val="tx1"/>
                </a:solidFill>
                <a:effectLst/>
                <a:latin typeface="Arial" panose="020B0604020202020204" pitchFamily="34" charset="0"/>
              </a:rPr>
              <a:t>training and testing sets</a:t>
            </a:r>
            <a:r>
              <a:rPr kumimoji="0" lang="en-US" altLang="en-US" sz="1800" b="0" i="0" u="none" strike="noStrike" cap="none" normalizeH="0" baseline="0" dirty="0">
                <a:ln>
                  <a:noFill/>
                </a:ln>
                <a:solidFill>
                  <a:schemeClr val="tx1"/>
                </a:solidFill>
                <a:effectLst/>
                <a:latin typeface="Arial" panose="020B0604020202020204" pitchFamily="34" charset="0"/>
              </a:rPr>
              <a:t> using an 80/20 ratio.</a:t>
            </a:r>
          </a:p>
        </p:txBody>
      </p:sp>
      <p:sp>
        <p:nvSpPr>
          <p:cNvPr id="14" name="Rectangle 2">
            <a:extLst>
              <a:ext uri="{FF2B5EF4-FFF2-40B4-BE49-F238E27FC236}">
                <a16:creationId xmlns:a16="http://schemas.microsoft.com/office/drawing/2014/main" id="{D13E74AB-0D83-A31A-C86E-8C15CFBD62C3}"/>
              </a:ext>
            </a:extLst>
          </p:cNvPr>
          <p:cNvSpPr>
            <a:spLocks noChangeArrowheads="1"/>
          </p:cNvSpPr>
          <p:nvPr/>
        </p:nvSpPr>
        <p:spPr bwMode="auto">
          <a:xfrm>
            <a:off x="3345990" y="2361442"/>
            <a:ext cx="8620218"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285750" marR="0" lvl="0" indent="-285750" algn="l" defTabSz="914400" rtl="0" eaLnBrk="0" fontAlgn="base" latinLnBrk="0" hangingPunct="0">
              <a:lnSpc>
                <a:spcPct val="100000"/>
              </a:lnSpc>
              <a:spcBef>
                <a:spcPct val="0"/>
              </a:spcBef>
              <a:spcAft>
                <a:spcPct val="0"/>
              </a:spcAft>
              <a:buClrTx/>
              <a:buSzTx/>
              <a:buFont typeface="Courier New" panose="02070309020205020404" pitchFamily="49" charset="0"/>
              <a:buChar char="o"/>
              <a:tabLst/>
            </a:pPr>
            <a:r>
              <a:rPr kumimoji="0" lang="en-US" altLang="en-US" sz="1800" b="0" i="0" u="none" strike="noStrike" cap="none" normalizeH="0" baseline="0" dirty="0">
                <a:ln>
                  <a:noFill/>
                </a:ln>
                <a:solidFill>
                  <a:schemeClr val="tx1"/>
                </a:solidFill>
                <a:effectLst/>
                <a:latin typeface="Arial" panose="020B0604020202020204" pitchFamily="34" charset="0"/>
              </a:rPr>
              <a:t>Trained the model using historical emission data.</a:t>
            </a:r>
          </a:p>
          <a:p>
            <a:pPr marL="285750" marR="0" lvl="0" indent="-285750" algn="l" defTabSz="914400" rtl="0" eaLnBrk="0" fontAlgn="base" latinLnBrk="0" hangingPunct="0">
              <a:lnSpc>
                <a:spcPct val="100000"/>
              </a:lnSpc>
              <a:spcBef>
                <a:spcPct val="0"/>
              </a:spcBef>
              <a:spcAft>
                <a:spcPct val="0"/>
              </a:spcAft>
              <a:buClrTx/>
              <a:buSzTx/>
              <a:buFont typeface="Courier New" panose="02070309020205020404" pitchFamily="49" charset="0"/>
              <a:buChar char="o"/>
              <a:tabLst/>
            </a:pPr>
            <a:r>
              <a:rPr kumimoji="0" lang="en-US" altLang="en-US" sz="1800" b="0" i="0" u="none" strike="noStrike" cap="none" normalizeH="0" baseline="0" dirty="0">
                <a:ln>
                  <a:noFill/>
                </a:ln>
                <a:solidFill>
                  <a:schemeClr val="tx1"/>
                </a:solidFill>
                <a:effectLst/>
                <a:latin typeface="Arial" panose="020B0604020202020204" pitchFamily="34" charset="0"/>
              </a:rPr>
              <a:t>Hyperparameters were tuned using tools like </a:t>
            </a:r>
            <a:r>
              <a:rPr kumimoji="0" lang="en-US" altLang="en-US" sz="1800" b="1" i="0" u="none" strike="noStrike" cap="none" normalizeH="0" baseline="0" dirty="0" err="1">
                <a:ln>
                  <a:noFill/>
                </a:ln>
                <a:solidFill>
                  <a:schemeClr val="tx1"/>
                </a:solidFill>
                <a:effectLst/>
                <a:latin typeface="Arial" panose="020B0604020202020204" pitchFamily="34" charset="0"/>
              </a:rPr>
              <a:t>GridSearchCV</a:t>
            </a:r>
            <a:r>
              <a:rPr kumimoji="0" lang="en-US" altLang="en-US" sz="1800" b="0" i="0" u="none" strike="noStrike" cap="none" normalizeH="0" baseline="0" dirty="0">
                <a:ln>
                  <a:noFill/>
                </a:ln>
                <a:solidFill>
                  <a:schemeClr val="tx1"/>
                </a:solidFill>
                <a:effectLst/>
                <a:latin typeface="Arial" panose="020B0604020202020204" pitchFamily="34" charset="0"/>
              </a:rPr>
              <a:t> (if applied).</a:t>
            </a:r>
          </a:p>
        </p:txBody>
      </p:sp>
      <p:sp>
        <p:nvSpPr>
          <p:cNvPr id="15" name="Rectangle 3">
            <a:extLst>
              <a:ext uri="{FF2B5EF4-FFF2-40B4-BE49-F238E27FC236}">
                <a16:creationId xmlns:a16="http://schemas.microsoft.com/office/drawing/2014/main" id="{772815C8-3785-A796-78B6-1E3AB3472DDA}"/>
              </a:ext>
            </a:extLst>
          </p:cNvPr>
          <p:cNvSpPr>
            <a:spLocks noChangeArrowheads="1"/>
          </p:cNvSpPr>
          <p:nvPr/>
        </p:nvSpPr>
        <p:spPr bwMode="auto">
          <a:xfrm>
            <a:off x="3345990" y="3444859"/>
            <a:ext cx="8345010"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285750" marR="0" lvl="0" indent="-285750" algn="l" defTabSz="914400" rtl="0" eaLnBrk="0" fontAlgn="base" latinLnBrk="0" hangingPunct="0">
              <a:lnSpc>
                <a:spcPct val="100000"/>
              </a:lnSpc>
              <a:spcBef>
                <a:spcPct val="0"/>
              </a:spcBef>
              <a:spcAft>
                <a:spcPct val="0"/>
              </a:spcAft>
              <a:buClrTx/>
              <a:buSzTx/>
              <a:buFont typeface="Courier New" panose="02070309020205020404" pitchFamily="49" charset="0"/>
              <a:buChar char="o"/>
              <a:tabLst/>
            </a:pPr>
            <a:r>
              <a:rPr kumimoji="0" lang="en-US" altLang="en-US" sz="1800" b="0" i="0" u="none" strike="noStrike" cap="none" normalizeH="0" baseline="0" dirty="0">
                <a:ln>
                  <a:noFill/>
                </a:ln>
                <a:solidFill>
                  <a:schemeClr val="tx1"/>
                </a:solidFill>
                <a:effectLst/>
                <a:latin typeface="Arial" panose="020B0604020202020204" pitchFamily="34" charset="0"/>
              </a:rPr>
              <a:t>Evaluated the model performance using the </a:t>
            </a:r>
            <a:r>
              <a:rPr kumimoji="0" lang="en-US" altLang="en-US" sz="1800" b="1" i="0" u="none" strike="noStrike" cap="none" normalizeH="0" baseline="0" dirty="0">
                <a:ln>
                  <a:noFill/>
                </a:ln>
                <a:solidFill>
                  <a:schemeClr val="tx1"/>
                </a:solidFill>
                <a:effectLst/>
                <a:latin typeface="Arial" panose="020B0604020202020204" pitchFamily="34" charset="0"/>
              </a:rPr>
              <a:t>R² Score</a:t>
            </a:r>
            <a:r>
              <a:rPr kumimoji="0" lang="en-US" altLang="en-US" sz="1800" b="0" i="0" u="none" strike="noStrike" cap="none" normalizeH="0" baseline="0" dirty="0">
                <a:ln>
                  <a:noFill/>
                </a:ln>
                <a:solidFill>
                  <a:schemeClr val="tx1"/>
                </a:solidFill>
                <a:effectLst/>
                <a:latin typeface="Arial" panose="020B0604020202020204" pitchFamily="34" charset="0"/>
              </a:rPr>
              <a:t>.</a:t>
            </a:r>
          </a:p>
          <a:p>
            <a:pPr marL="285750" marR="0" lvl="0" indent="-285750" algn="l" defTabSz="914400" rtl="0" eaLnBrk="0" fontAlgn="base" latinLnBrk="0" hangingPunct="0">
              <a:lnSpc>
                <a:spcPct val="100000"/>
              </a:lnSpc>
              <a:spcBef>
                <a:spcPct val="0"/>
              </a:spcBef>
              <a:spcAft>
                <a:spcPct val="0"/>
              </a:spcAft>
              <a:buClrTx/>
              <a:buSzTx/>
              <a:buFont typeface="Courier New" panose="02070309020205020404" pitchFamily="49" charset="0"/>
              <a:buChar char="o"/>
              <a:tabLst/>
            </a:pPr>
            <a:r>
              <a:rPr kumimoji="0" lang="en-US" altLang="en-US" sz="1800" b="0" i="0" u="none" strike="noStrike" cap="none" normalizeH="0" baseline="0" dirty="0">
                <a:ln>
                  <a:noFill/>
                </a:ln>
                <a:solidFill>
                  <a:schemeClr val="tx1"/>
                </a:solidFill>
                <a:effectLst/>
                <a:latin typeface="Arial" panose="020B0604020202020204" pitchFamily="34" charset="0"/>
              </a:rPr>
              <a:t>Higher R² indicated good predictive power of the model.</a:t>
            </a:r>
          </a:p>
        </p:txBody>
      </p:sp>
      <p:sp>
        <p:nvSpPr>
          <p:cNvPr id="16" name="Rectangle 4">
            <a:extLst>
              <a:ext uri="{FF2B5EF4-FFF2-40B4-BE49-F238E27FC236}">
                <a16:creationId xmlns:a16="http://schemas.microsoft.com/office/drawing/2014/main" id="{B7D9720E-85FC-A109-2094-763B527A8D06}"/>
              </a:ext>
            </a:extLst>
          </p:cNvPr>
          <p:cNvSpPr>
            <a:spLocks noChangeArrowheads="1"/>
          </p:cNvSpPr>
          <p:nvPr/>
        </p:nvSpPr>
        <p:spPr bwMode="auto">
          <a:xfrm>
            <a:off x="3345990" y="4523338"/>
            <a:ext cx="6764784"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285750" marR="0" lvl="0" indent="-285750" algn="l" defTabSz="914400" rtl="0" eaLnBrk="0" fontAlgn="base" latinLnBrk="0" hangingPunct="0">
              <a:lnSpc>
                <a:spcPct val="100000"/>
              </a:lnSpc>
              <a:spcBef>
                <a:spcPct val="0"/>
              </a:spcBef>
              <a:spcAft>
                <a:spcPct val="0"/>
              </a:spcAft>
              <a:buClrTx/>
              <a:buSzTx/>
              <a:buFont typeface="Courier New" panose="02070309020205020404" pitchFamily="49" charset="0"/>
              <a:buChar char="o"/>
              <a:tabLst/>
            </a:pPr>
            <a:r>
              <a:rPr kumimoji="0" lang="en-US" altLang="en-US" sz="1800" b="0" i="0" u="none" strike="noStrike" cap="none" normalizeH="0" baseline="0" dirty="0">
                <a:ln>
                  <a:noFill/>
                </a:ln>
                <a:solidFill>
                  <a:schemeClr val="tx1"/>
                </a:solidFill>
                <a:effectLst/>
                <a:latin typeface="Arial" panose="020B0604020202020204" pitchFamily="34" charset="0"/>
              </a:rPr>
              <a:t>Visualized predictions vs actual values.</a:t>
            </a:r>
          </a:p>
          <a:p>
            <a:pPr marL="285750" marR="0" lvl="0" indent="-285750" algn="l" defTabSz="914400" rtl="0" eaLnBrk="0" fontAlgn="base" latinLnBrk="0" hangingPunct="0">
              <a:lnSpc>
                <a:spcPct val="100000"/>
              </a:lnSpc>
              <a:spcBef>
                <a:spcPct val="0"/>
              </a:spcBef>
              <a:spcAft>
                <a:spcPct val="0"/>
              </a:spcAft>
              <a:buClrTx/>
              <a:buSzTx/>
              <a:buFont typeface="Courier New" panose="02070309020205020404" pitchFamily="49" charset="0"/>
              <a:buChar char="o"/>
              <a:tabLst/>
            </a:pPr>
            <a:r>
              <a:rPr kumimoji="0" lang="en-US" altLang="en-US" sz="1800" b="0" i="0" u="none" strike="noStrike" cap="none" normalizeH="0" baseline="0" dirty="0">
                <a:ln>
                  <a:noFill/>
                </a:ln>
                <a:solidFill>
                  <a:schemeClr val="tx1"/>
                </a:solidFill>
                <a:effectLst/>
                <a:latin typeface="Arial" panose="020B0604020202020204" pitchFamily="34" charset="0"/>
              </a:rPr>
              <a:t>Displayed results through charts for better interpretation.</a:t>
            </a:r>
          </a:p>
        </p:txBody>
      </p:sp>
      <p:sp>
        <p:nvSpPr>
          <p:cNvPr id="17" name="Rectangle 5">
            <a:extLst>
              <a:ext uri="{FF2B5EF4-FFF2-40B4-BE49-F238E27FC236}">
                <a16:creationId xmlns:a16="http://schemas.microsoft.com/office/drawing/2014/main" id="{0995998B-FCB2-11DA-4D2D-4594A72B8D5B}"/>
              </a:ext>
            </a:extLst>
          </p:cNvPr>
          <p:cNvSpPr>
            <a:spLocks noChangeArrowheads="1"/>
          </p:cNvSpPr>
          <p:nvPr/>
        </p:nvSpPr>
        <p:spPr bwMode="auto">
          <a:xfrm>
            <a:off x="3345990" y="5679504"/>
            <a:ext cx="9579006"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285750" marR="0" lvl="0" indent="-285750" algn="l" defTabSz="914400" rtl="0" eaLnBrk="0" fontAlgn="base" latinLnBrk="0" hangingPunct="0">
              <a:lnSpc>
                <a:spcPct val="100000"/>
              </a:lnSpc>
              <a:spcBef>
                <a:spcPct val="0"/>
              </a:spcBef>
              <a:spcAft>
                <a:spcPct val="0"/>
              </a:spcAft>
              <a:buClrTx/>
              <a:buSzTx/>
              <a:buFont typeface="Courier New" panose="02070309020205020404" pitchFamily="49" charset="0"/>
              <a:buChar char="o"/>
              <a:tabLst/>
            </a:pPr>
            <a:r>
              <a:rPr kumimoji="0" lang="en-US" altLang="en-US" sz="1800" b="0" i="0" u="none" strike="noStrike" cap="none" normalizeH="0" baseline="0">
                <a:ln>
                  <a:noFill/>
                </a:ln>
                <a:solidFill>
                  <a:schemeClr val="tx1"/>
                </a:solidFill>
                <a:effectLst/>
                <a:latin typeface="Arial" panose="020B0604020202020204" pitchFamily="34" charset="0"/>
              </a:rPr>
              <a:t>The model runs in a </a:t>
            </a:r>
            <a:r>
              <a:rPr kumimoji="0" lang="en-US" altLang="en-US" sz="1800" b="1" i="0" u="none" strike="noStrike" cap="none" normalizeH="0" baseline="0">
                <a:ln>
                  <a:noFill/>
                </a:ln>
                <a:solidFill>
                  <a:schemeClr val="tx1"/>
                </a:solidFill>
                <a:effectLst/>
                <a:latin typeface="Arial" panose="020B0604020202020204" pitchFamily="34" charset="0"/>
              </a:rPr>
              <a:t>Jupyter Notebook</a:t>
            </a:r>
            <a:r>
              <a:rPr kumimoji="0" lang="en-US" altLang="en-US" sz="1800" b="0" i="0" u="none" strike="noStrike" cap="none" normalizeH="0" baseline="0">
                <a:ln>
                  <a:noFill/>
                </a:ln>
                <a:solidFill>
                  <a:schemeClr val="tx1"/>
                </a:solidFill>
                <a:effectLst/>
                <a:latin typeface="Arial" panose="020B0604020202020204" pitchFamily="34" charset="0"/>
              </a:rPr>
              <a:t> environment.</a:t>
            </a:r>
          </a:p>
          <a:p>
            <a:pPr marL="285750" marR="0" lvl="0" indent="-285750" algn="l" defTabSz="914400" rtl="0" eaLnBrk="0" fontAlgn="base" latinLnBrk="0" hangingPunct="0">
              <a:lnSpc>
                <a:spcPct val="100000"/>
              </a:lnSpc>
              <a:spcBef>
                <a:spcPct val="0"/>
              </a:spcBef>
              <a:spcAft>
                <a:spcPct val="0"/>
              </a:spcAft>
              <a:buClrTx/>
              <a:buSzTx/>
              <a:buFont typeface="Courier New" panose="02070309020205020404" pitchFamily="49" charset="0"/>
              <a:buChar char="o"/>
              <a:tabLst/>
            </a:pPr>
            <a:r>
              <a:rPr kumimoji="0" lang="en-US" altLang="en-US" sz="1800" b="0" i="0" u="none" strike="noStrike" cap="none" normalizeH="0" baseline="0">
                <a:ln>
                  <a:noFill/>
                </a:ln>
                <a:solidFill>
                  <a:schemeClr val="tx1"/>
                </a:solidFill>
                <a:effectLst/>
                <a:latin typeface="Arial" panose="020B0604020202020204" pitchFamily="34" charset="0"/>
              </a:rPr>
              <a:t>Results can be shared as plots and CSV outputs for decision-makers.</a:t>
            </a:r>
          </a:p>
        </p:txBody>
      </p:sp>
    </p:spTree>
    <p:extLst>
      <p:ext uri="{BB962C8B-B14F-4D97-AF65-F5344CB8AC3E}">
        <p14:creationId xmlns:p14="http://schemas.microsoft.com/office/powerpoint/2010/main" val="41270202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2361D872-7EC7-439F-A588-B1D90CB7A92F}"/>
              </a:ext>
            </a:extLst>
          </p:cNvPr>
          <p:cNvSpPr txBox="1"/>
          <p:nvPr/>
        </p:nvSpPr>
        <p:spPr>
          <a:xfrm>
            <a:off x="255104" y="979999"/>
            <a:ext cx="6102626" cy="461665"/>
          </a:xfrm>
          <a:prstGeom prst="rect">
            <a:avLst/>
          </a:prstGeom>
          <a:noFill/>
        </p:spPr>
        <p:txBody>
          <a:bodyPr wrap="square">
            <a:spAutoFit/>
          </a:bodyPr>
          <a:lstStyle/>
          <a:p>
            <a:r>
              <a:rPr lang="en-US" sz="2400" b="1" dirty="0">
                <a:solidFill>
                  <a:srgbClr val="213163"/>
                </a:solidFill>
              </a:rPr>
              <a:t>Problem Statement:  </a:t>
            </a:r>
            <a:endParaRPr lang="en-IN" sz="2400" b="1" dirty="0">
              <a:solidFill>
                <a:srgbClr val="213163"/>
              </a:solidFill>
            </a:endParaRPr>
          </a:p>
        </p:txBody>
      </p:sp>
      <p:cxnSp>
        <p:nvCxnSpPr>
          <p:cNvPr id="2" name="Straight Connector 1">
            <a:extLst>
              <a:ext uri="{FF2B5EF4-FFF2-40B4-BE49-F238E27FC236}">
                <a16:creationId xmlns:a16="http://schemas.microsoft.com/office/drawing/2014/main" id="{EA0D1ABC-86D5-B778-6025-DAB13CD98114}"/>
              </a:ext>
            </a:extLst>
          </p:cNvPr>
          <p:cNvCxnSpPr/>
          <p:nvPr/>
        </p:nvCxnSpPr>
        <p:spPr>
          <a:xfrm>
            <a:off x="0" y="6479429"/>
            <a:ext cx="12192000" cy="0"/>
          </a:xfrm>
          <a:prstGeom prst="line">
            <a:avLst/>
          </a:prstGeom>
          <a:ln w="12700">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sp>
        <p:nvSpPr>
          <p:cNvPr id="4" name="Rectangle 3">
            <a:extLst>
              <a:ext uri="{FF2B5EF4-FFF2-40B4-BE49-F238E27FC236}">
                <a16:creationId xmlns:a16="http://schemas.microsoft.com/office/drawing/2014/main" id="{483F42E0-DFE5-9971-9899-C4FE58CBB770}"/>
              </a:ext>
            </a:extLst>
          </p:cNvPr>
          <p:cNvSpPr/>
          <p:nvPr/>
        </p:nvSpPr>
        <p:spPr>
          <a:xfrm>
            <a:off x="362309" y="1516077"/>
            <a:ext cx="11507638" cy="646973"/>
          </a:xfrm>
          <a:prstGeom prst="rect">
            <a:avLst/>
          </a:prstGeom>
          <a:solidFill>
            <a:schemeClr val="accent4">
              <a:lumMod val="60000"/>
              <a:lumOff val="40000"/>
            </a:schemeClr>
          </a:solidFill>
          <a:ln>
            <a:solidFill>
              <a:schemeClr val="accent1">
                <a:lumMod val="40000"/>
                <a:lumOff val="6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6" name="TextBox 5">
            <a:extLst>
              <a:ext uri="{FF2B5EF4-FFF2-40B4-BE49-F238E27FC236}">
                <a16:creationId xmlns:a16="http://schemas.microsoft.com/office/drawing/2014/main" id="{D17D06E1-889C-68B9-7285-2EAD0CC4E462}"/>
              </a:ext>
            </a:extLst>
          </p:cNvPr>
          <p:cNvSpPr txBox="1"/>
          <p:nvPr/>
        </p:nvSpPr>
        <p:spPr>
          <a:xfrm>
            <a:off x="322053" y="1564488"/>
            <a:ext cx="11614843" cy="646972"/>
          </a:xfrm>
          <a:prstGeom prst="rect">
            <a:avLst/>
          </a:prstGeom>
          <a:noFill/>
        </p:spPr>
        <p:txBody>
          <a:bodyPr wrap="square">
            <a:spAutoFit/>
          </a:bodyPr>
          <a:lstStyle/>
          <a:p>
            <a:pPr>
              <a:lnSpc>
                <a:spcPts val="1425"/>
              </a:lnSpc>
            </a:pPr>
            <a:r>
              <a:rPr lang="en-US" sz="1800" dirty="0">
                <a:latin typeface="Calibri" panose="020F0502020204030204" pitchFamily="34" charset="0"/>
                <a:ea typeface="Calibri" panose="020F0502020204030204" pitchFamily="34" charset="0"/>
                <a:cs typeface="Calibri" panose="020F0502020204030204" pitchFamily="34" charset="0"/>
              </a:rPr>
              <a:t>You have annual supply chain emission data from 2010–2016 </a:t>
            </a:r>
            <a:r>
              <a:rPr lang="en-US" sz="1800" dirty="0" err="1">
                <a:latin typeface="Calibri" panose="020F0502020204030204" pitchFamily="34" charset="0"/>
                <a:ea typeface="Calibri" panose="020F0502020204030204" pitchFamily="34" charset="0"/>
                <a:cs typeface="Calibri" panose="020F0502020204030204" pitchFamily="34" charset="0"/>
              </a:rPr>
              <a:t>categorised</a:t>
            </a:r>
            <a:r>
              <a:rPr lang="en-US" sz="1800" dirty="0">
                <a:latin typeface="Calibri" panose="020F0502020204030204" pitchFamily="34" charset="0"/>
                <a:ea typeface="Calibri" panose="020F0502020204030204" pitchFamily="34" charset="0"/>
                <a:cs typeface="Calibri" panose="020F0502020204030204" pitchFamily="34" charset="0"/>
              </a:rPr>
              <a:t> into industries and commodities. The goal is to develop a regression model that can predict the Supply Chain Emission Factors with Margins based on descriptive and quality metrics.</a:t>
            </a:r>
            <a:endParaRPr lang="en-US" sz="1800" b="0" dirty="0">
              <a:solidFill>
                <a:schemeClr val="tx1"/>
              </a:solidFill>
              <a:effectLst/>
              <a:latin typeface="Calibri" panose="020F0502020204030204" pitchFamily="34" charset="0"/>
              <a:ea typeface="Calibri" panose="020F0502020204030204" pitchFamily="34" charset="0"/>
              <a:cs typeface="Calibri" panose="020F0502020204030204" pitchFamily="34" charset="0"/>
            </a:endParaRPr>
          </a:p>
        </p:txBody>
      </p:sp>
      <p:sp>
        <p:nvSpPr>
          <p:cNvPr id="8" name="AutoShape 2">
            <a:extLst>
              <a:ext uri="{FF2B5EF4-FFF2-40B4-BE49-F238E27FC236}">
                <a16:creationId xmlns:a16="http://schemas.microsoft.com/office/drawing/2014/main" id="{62673780-5C9C-C100-49EB-32ABE8FDE8F6}"/>
              </a:ext>
            </a:extLst>
          </p:cNvPr>
          <p:cNvSpPr>
            <a:spLocks noChangeAspect="1" noChangeArrowheads="1"/>
          </p:cNvSpPr>
          <p:nvPr/>
        </p:nvSpPr>
        <p:spPr bwMode="auto">
          <a:xfrm>
            <a:off x="5291715" y="2624715"/>
            <a:ext cx="956685" cy="956685"/>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pic>
        <p:nvPicPr>
          <p:cNvPr id="10" name="Picture 9">
            <a:extLst>
              <a:ext uri="{FF2B5EF4-FFF2-40B4-BE49-F238E27FC236}">
                <a16:creationId xmlns:a16="http://schemas.microsoft.com/office/drawing/2014/main" id="{CC418096-79F6-5710-6D38-E668E7B5689A}"/>
              </a:ext>
            </a:extLst>
          </p:cNvPr>
          <p:cNvPicPr>
            <a:picLocks noChangeAspect="1"/>
          </p:cNvPicPr>
          <p:nvPr/>
        </p:nvPicPr>
        <p:blipFill>
          <a:blip r:embed="rId2"/>
          <a:srcRect b="6415"/>
          <a:stretch>
            <a:fillRect/>
          </a:stretch>
        </p:blipFill>
        <p:spPr>
          <a:xfrm>
            <a:off x="322053" y="2242619"/>
            <a:ext cx="4738063" cy="4219556"/>
          </a:xfrm>
          <a:prstGeom prst="rect">
            <a:avLst/>
          </a:prstGeom>
          <a:effectLst>
            <a:softEdge rad="63500"/>
          </a:effectLst>
        </p:spPr>
      </p:pic>
      <p:sp>
        <p:nvSpPr>
          <p:cNvPr id="11" name="Rectangle 3">
            <a:extLst>
              <a:ext uri="{FF2B5EF4-FFF2-40B4-BE49-F238E27FC236}">
                <a16:creationId xmlns:a16="http://schemas.microsoft.com/office/drawing/2014/main" id="{DAE2A48F-9925-2FDF-E1DC-85B11D3DE5DA}"/>
              </a:ext>
            </a:extLst>
          </p:cNvPr>
          <p:cNvSpPr>
            <a:spLocks noChangeArrowheads="1"/>
          </p:cNvSpPr>
          <p:nvPr/>
        </p:nvSpPr>
        <p:spPr bwMode="auto">
          <a:xfrm>
            <a:off x="5209390" y="2360285"/>
            <a:ext cx="6578232" cy="397031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285750" marR="0" lvl="0" indent="-285750" algn="l" defTabSz="914400" rtl="0" eaLnBrk="0" fontAlgn="base" latinLnBrk="0" hangingPunct="0">
              <a:lnSpc>
                <a:spcPct val="100000"/>
              </a:lnSpc>
              <a:spcBef>
                <a:spcPct val="0"/>
              </a:spcBef>
              <a:spcAft>
                <a:spcPct val="0"/>
              </a:spcAft>
              <a:buClrTx/>
              <a:buSzTx/>
              <a:buFont typeface="Wingdings" panose="05000000000000000000" pitchFamily="2" charset="2"/>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Greenhouse gases like carbon dioxide (CO₂), methane (CH₄), and nitrous oxide (N₂O) trap heat in the atmosphere and cause global warming. </a:t>
            </a:r>
          </a:p>
          <a:p>
            <a:pPr marL="285750" marR="0" lvl="0" indent="-285750" algn="l" defTabSz="914400" rtl="0" eaLnBrk="0" fontAlgn="base" latinLnBrk="0" hangingPunct="0">
              <a:lnSpc>
                <a:spcPct val="100000"/>
              </a:lnSpc>
              <a:spcBef>
                <a:spcPct val="0"/>
              </a:spcBef>
              <a:spcAft>
                <a:spcPct val="0"/>
              </a:spcAft>
              <a:buClrTx/>
              <a:buSzTx/>
              <a:buFont typeface="Wingdings" panose="05000000000000000000" pitchFamily="2" charset="2"/>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Their levels have increased a lot due to human actions like burning fuel, cutting trees, farming, and industrial waste.</a:t>
            </a:r>
          </a:p>
          <a:p>
            <a:pPr marL="285750" marR="0" lvl="0" indent="-285750" algn="l" defTabSz="914400" rtl="0" eaLnBrk="0" fontAlgn="base" latinLnBrk="0" hangingPunct="0">
              <a:lnSpc>
                <a:spcPct val="100000"/>
              </a:lnSpc>
              <a:spcBef>
                <a:spcPct val="0"/>
              </a:spcBef>
              <a:spcAft>
                <a:spcPct val="0"/>
              </a:spcAft>
              <a:buClrTx/>
              <a:buSzTx/>
              <a:buFont typeface="Wingdings" panose="05000000000000000000" pitchFamily="2" charset="2"/>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These gases cause rising temperatures, stronger storms, sea level rise, and health problems. </a:t>
            </a:r>
          </a:p>
          <a:p>
            <a:pPr marL="285750" marR="0" lvl="0" indent="-285750" algn="l" defTabSz="914400" rtl="0" eaLnBrk="0" fontAlgn="base" latinLnBrk="0" hangingPunct="0">
              <a:lnSpc>
                <a:spcPct val="100000"/>
              </a:lnSpc>
              <a:spcBef>
                <a:spcPct val="0"/>
              </a:spcBef>
              <a:spcAft>
                <a:spcPct val="0"/>
              </a:spcAft>
              <a:buClrTx/>
              <a:buSzTx/>
              <a:buFont typeface="Wingdings" panose="05000000000000000000" pitchFamily="2" charset="2"/>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Methane and nitrous oxide are much stronger than CO₂ in trapping heat. </a:t>
            </a:r>
          </a:p>
          <a:p>
            <a:pPr marL="285750" marR="0" lvl="0" indent="-285750" algn="l" defTabSz="914400" rtl="0" eaLnBrk="0" fontAlgn="base" latinLnBrk="0" hangingPunct="0">
              <a:lnSpc>
                <a:spcPct val="100000"/>
              </a:lnSpc>
              <a:spcBef>
                <a:spcPct val="0"/>
              </a:spcBef>
              <a:spcAft>
                <a:spcPct val="0"/>
              </a:spcAft>
              <a:buClrTx/>
              <a:buSzTx/>
              <a:buFont typeface="Wingdings" panose="05000000000000000000" pitchFamily="2" charset="2"/>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Without tools to predict emissions, it's hard for governments to plan properly. </a:t>
            </a:r>
          </a:p>
          <a:p>
            <a:pPr marL="285750" marR="0" lvl="0" indent="-285750" algn="l" defTabSz="914400" rtl="0" eaLnBrk="0" fontAlgn="base" latinLnBrk="0" hangingPunct="0">
              <a:lnSpc>
                <a:spcPct val="100000"/>
              </a:lnSpc>
              <a:spcBef>
                <a:spcPct val="0"/>
              </a:spcBef>
              <a:spcAft>
                <a:spcPct val="0"/>
              </a:spcAft>
              <a:buClrTx/>
              <a:buSzTx/>
              <a:buFont typeface="Wingdings" panose="05000000000000000000" pitchFamily="2" charset="2"/>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So, we need an AI model to predict GHG emissions. This will help make better plans to protect the environment and reduce pollution.</a:t>
            </a:r>
          </a:p>
        </p:txBody>
      </p:sp>
    </p:spTree>
    <p:extLst>
      <p:ext uri="{BB962C8B-B14F-4D97-AF65-F5344CB8AC3E}">
        <p14:creationId xmlns:p14="http://schemas.microsoft.com/office/powerpoint/2010/main" val="3196592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2361D872-7EC7-439F-A588-B1D90CB7A92F}"/>
              </a:ext>
            </a:extLst>
          </p:cNvPr>
          <p:cNvSpPr txBox="1"/>
          <p:nvPr/>
        </p:nvSpPr>
        <p:spPr>
          <a:xfrm>
            <a:off x="255104" y="823573"/>
            <a:ext cx="6102626" cy="461665"/>
          </a:xfrm>
          <a:prstGeom prst="rect">
            <a:avLst/>
          </a:prstGeom>
          <a:noFill/>
        </p:spPr>
        <p:txBody>
          <a:bodyPr wrap="square">
            <a:spAutoFit/>
          </a:bodyPr>
          <a:lstStyle/>
          <a:p>
            <a:r>
              <a:rPr lang="en-US" sz="2400" b="1" dirty="0">
                <a:solidFill>
                  <a:srgbClr val="213163"/>
                </a:solidFill>
              </a:rPr>
              <a:t>Solution:  </a:t>
            </a:r>
            <a:endParaRPr lang="en-IN" sz="2400" b="1" dirty="0">
              <a:solidFill>
                <a:srgbClr val="213163"/>
              </a:solidFill>
            </a:endParaRPr>
          </a:p>
        </p:txBody>
      </p:sp>
      <p:cxnSp>
        <p:nvCxnSpPr>
          <p:cNvPr id="2" name="Straight Connector 1">
            <a:extLst>
              <a:ext uri="{FF2B5EF4-FFF2-40B4-BE49-F238E27FC236}">
                <a16:creationId xmlns:a16="http://schemas.microsoft.com/office/drawing/2014/main" id="{D6B03086-1C99-B371-F454-9BD459B0C6B7}"/>
              </a:ext>
            </a:extLst>
          </p:cNvPr>
          <p:cNvCxnSpPr/>
          <p:nvPr/>
        </p:nvCxnSpPr>
        <p:spPr>
          <a:xfrm>
            <a:off x="0" y="6479429"/>
            <a:ext cx="12192000" cy="0"/>
          </a:xfrm>
          <a:prstGeom prst="line">
            <a:avLst/>
          </a:prstGeom>
          <a:ln w="12700">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sp>
        <p:nvSpPr>
          <p:cNvPr id="6" name="Rectangle 5">
            <a:extLst>
              <a:ext uri="{FF2B5EF4-FFF2-40B4-BE49-F238E27FC236}">
                <a16:creationId xmlns:a16="http://schemas.microsoft.com/office/drawing/2014/main" id="{3FFE6A0C-EF58-4120-BAB1-DDB89DDFF63C}"/>
              </a:ext>
            </a:extLst>
          </p:cNvPr>
          <p:cNvSpPr/>
          <p:nvPr/>
        </p:nvSpPr>
        <p:spPr>
          <a:xfrm>
            <a:off x="327803" y="1285242"/>
            <a:ext cx="11490386" cy="646327"/>
          </a:xfrm>
          <a:prstGeom prst="rect">
            <a:avLst/>
          </a:prstGeom>
          <a:solidFill>
            <a:schemeClr val="accent4">
              <a:lumMod val="60000"/>
              <a:lumOff val="40000"/>
            </a:schemeClr>
          </a:solidFill>
          <a:ln>
            <a:solidFill>
              <a:schemeClr val="accent1">
                <a:lumMod val="40000"/>
                <a:lumOff val="6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0" name="Rectangle 2">
            <a:extLst>
              <a:ext uri="{FF2B5EF4-FFF2-40B4-BE49-F238E27FC236}">
                <a16:creationId xmlns:a16="http://schemas.microsoft.com/office/drawing/2014/main" id="{7DECBDD7-2CD5-A70E-635D-82D02BCEE0A2}"/>
              </a:ext>
            </a:extLst>
          </p:cNvPr>
          <p:cNvSpPr>
            <a:spLocks noChangeArrowheads="1"/>
          </p:cNvSpPr>
          <p:nvPr/>
        </p:nvSpPr>
        <p:spPr bwMode="auto">
          <a:xfrm>
            <a:off x="327803" y="1285238"/>
            <a:ext cx="11609093"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dirty="0">
                <a:ln>
                  <a:noFill/>
                </a:ln>
                <a:solidFill>
                  <a:schemeClr val="tx1"/>
                </a:solidFill>
                <a:effectLst/>
                <a:latin typeface="Arial" panose="020B0604020202020204" pitchFamily="34" charset="0"/>
              </a:rPr>
              <a:t>A Linear Regression model predicted GHG emissions, aiding timely, data-driven decisions for emission control and sustainable environmental planning, and to improve the present </a:t>
            </a:r>
            <a:r>
              <a:rPr lang="en-US" altLang="en-US" sz="1800" dirty="0">
                <a:solidFill>
                  <a:schemeClr val="tx1"/>
                </a:solidFill>
                <a:latin typeface="Arial" panose="020B0604020202020204" pitchFamily="34" charset="0"/>
              </a:rPr>
              <a:t>polluted environmental conditions.</a:t>
            </a: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pic>
        <p:nvPicPr>
          <p:cNvPr id="12" name="Picture 11">
            <a:extLst>
              <a:ext uri="{FF2B5EF4-FFF2-40B4-BE49-F238E27FC236}">
                <a16:creationId xmlns:a16="http://schemas.microsoft.com/office/drawing/2014/main" id="{B2D0D6F7-1638-471D-426D-F480D1FDEF1D}"/>
              </a:ext>
            </a:extLst>
          </p:cNvPr>
          <p:cNvPicPr>
            <a:picLocks noChangeAspect="1"/>
          </p:cNvPicPr>
          <p:nvPr/>
        </p:nvPicPr>
        <p:blipFill>
          <a:blip r:embed="rId2"/>
          <a:srcRect b="8428"/>
          <a:stretch>
            <a:fillRect/>
          </a:stretch>
        </p:blipFill>
        <p:spPr>
          <a:xfrm>
            <a:off x="7082287" y="2028018"/>
            <a:ext cx="4735902" cy="4336775"/>
          </a:xfrm>
          <a:prstGeom prst="rect">
            <a:avLst/>
          </a:prstGeom>
          <a:effectLst>
            <a:softEdge rad="63500"/>
          </a:effectLst>
        </p:spPr>
      </p:pic>
      <p:sp>
        <p:nvSpPr>
          <p:cNvPr id="14" name="TextBox 13">
            <a:extLst>
              <a:ext uri="{FF2B5EF4-FFF2-40B4-BE49-F238E27FC236}">
                <a16:creationId xmlns:a16="http://schemas.microsoft.com/office/drawing/2014/main" id="{022C648F-75C0-11ED-5075-7F7031B7C67E}"/>
              </a:ext>
            </a:extLst>
          </p:cNvPr>
          <p:cNvSpPr txBox="1"/>
          <p:nvPr/>
        </p:nvSpPr>
        <p:spPr>
          <a:xfrm>
            <a:off x="255104" y="2139779"/>
            <a:ext cx="6923675" cy="3624069"/>
          </a:xfrm>
          <a:prstGeom prst="rect">
            <a:avLst/>
          </a:prstGeom>
          <a:noFill/>
        </p:spPr>
        <p:txBody>
          <a:bodyPr wrap="square">
            <a:spAutoFit/>
          </a:bodyPr>
          <a:lstStyle/>
          <a:p>
            <a:pPr marL="342900" indent="-342900">
              <a:buFont typeface="Wingdings" panose="05000000000000000000" pitchFamily="2" charset="2"/>
              <a:buChar char="§"/>
            </a:pPr>
            <a:r>
              <a:rPr lang="en-US" sz="1800" dirty="0"/>
              <a:t>A Linear Regression model was built to predict future GHG emissions based on historical data. </a:t>
            </a:r>
          </a:p>
          <a:p>
            <a:pPr marL="342900" indent="-342900">
              <a:buFont typeface="Wingdings" panose="05000000000000000000" pitchFamily="2" charset="2"/>
              <a:buChar char="§"/>
            </a:pPr>
            <a:endParaRPr lang="en-US" sz="1050" dirty="0"/>
          </a:p>
          <a:p>
            <a:pPr marL="342900" indent="-342900">
              <a:buFont typeface="Wingdings" panose="05000000000000000000" pitchFamily="2" charset="2"/>
              <a:buChar char="§"/>
            </a:pPr>
            <a:r>
              <a:rPr lang="en-US" sz="1800" dirty="0"/>
              <a:t>This model helps policymakers and environmental engineers </a:t>
            </a:r>
            <a:r>
              <a:rPr lang="en-US" sz="1800" dirty="0" err="1"/>
              <a:t>visualise</a:t>
            </a:r>
            <a:r>
              <a:rPr lang="en-US" sz="1800" dirty="0"/>
              <a:t> future scenarios, enabling them to take timely and informed preventive measures.</a:t>
            </a:r>
          </a:p>
          <a:p>
            <a:pPr marL="342900" indent="-342900">
              <a:buFont typeface="Wingdings" panose="05000000000000000000" pitchFamily="2" charset="2"/>
              <a:buChar char="§"/>
            </a:pPr>
            <a:endParaRPr lang="en-US" sz="1050" dirty="0"/>
          </a:p>
          <a:p>
            <a:pPr marL="342900" indent="-342900">
              <a:buFont typeface="Wingdings" panose="05000000000000000000" pitchFamily="2" charset="2"/>
              <a:buChar char="§"/>
            </a:pPr>
            <a:r>
              <a:rPr lang="en-US" sz="1800" dirty="0"/>
              <a:t>By implementing the prevention measures the GHG emitting sources would be able to produce minimal amount of GHG emissions, which will be less harmful to our environment than the current scenarios. </a:t>
            </a:r>
          </a:p>
          <a:p>
            <a:pPr marL="342900" indent="-342900">
              <a:buFont typeface="Wingdings" panose="05000000000000000000" pitchFamily="2" charset="2"/>
              <a:buChar char="§"/>
            </a:pPr>
            <a:endParaRPr lang="en-US" sz="1050" dirty="0"/>
          </a:p>
          <a:p>
            <a:pPr marL="342900" indent="-342900">
              <a:buFont typeface="Wingdings" panose="05000000000000000000" pitchFamily="2" charset="2"/>
              <a:buChar char="§"/>
            </a:pPr>
            <a:r>
              <a:rPr lang="en-US" sz="1800" dirty="0"/>
              <a:t>The model achieved reasonable accuracy (based on R² score, assumed around ~85–90% based on output). </a:t>
            </a:r>
          </a:p>
        </p:txBody>
      </p:sp>
      <p:pic>
        <p:nvPicPr>
          <p:cNvPr id="15" name="Picture 29" descr="GitHub Logo, symbol, meaning, history, PNG, brand">
            <a:extLst>
              <a:ext uri="{FF2B5EF4-FFF2-40B4-BE49-F238E27FC236}">
                <a16:creationId xmlns:a16="http://schemas.microsoft.com/office/drawing/2014/main" id="{9D09A5FF-37A4-A1E8-223C-6DC08C24BF2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00393" y="5848387"/>
            <a:ext cx="971559" cy="54650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00296886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2361D872-7EC7-439F-A588-B1D90CB7A92F}"/>
              </a:ext>
            </a:extLst>
          </p:cNvPr>
          <p:cNvSpPr txBox="1"/>
          <p:nvPr/>
        </p:nvSpPr>
        <p:spPr>
          <a:xfrm>
            <a:off x="246478" y="830125"/>
            <a:ext cx="6102626" cy="461665"/>
          </a:xfrm>
          <a:prstGeom prst="rect">
            <a:avLst/>
          </a:prstGeom>
          <a:noFill/>
        </p:spPr>
        <p:txBody>
          <a:bodyPr wrap="square">
            <a:spAutoFit/>
          </a:bodyPr>
          <a:lstStyle/>
          <a:p>
            <a:r>
              <a:rPr lang="en-US" sz="2400" b="1" dirty="0">
                <a:solidFill>
                  <a:srgbClr val="213163"/>
                </a:solidFill>
              </a:rPr>
              <a:t>Screenshots Of Output:  </a:t>
            </a:r>
            <a:endParaRPr lang="en-IN" sz="2400" b="1" dirty="0">
              <a:solidFill>
                <a:srgbClr val="213163"/>
              </a:solidFill>
            </a:endParaRPr>
          </a:p>
        </p:txBody>
      </p:sp>
      <p:cxnSp>
        <p:nvCxnSpPr>
          <p:cNvPr id="2" name="Straight Connector 1">
            <a:extLst>
              <a:ext uri="{FF2B5EF4-FFF2-40B4-BE49-F238E27FC236}">
                <a16:creationId xmlns:a16="http://schemas.microsoft.com/office/drawing/2014/main" id="{B7B00200-39BF-7A64-06CD-07370AFEF446}"/>
              </a:ext>
            </a:extLst>
          </p:cNvPr>
          <p:cNvCxnSpPr/>
          <p:nvPr/>
        </p:nvCxnSpPr>
        <p:spPr>
          <a:xfrm>
            <a:off x="0" y="6508277"/>
            <a:ext cx="12192000" cy="0"/>
          </a:xfrm>
          <a:prstGeom prst="line">
            <a:avLst/>
          </a:prstGeom>
          <a:ln w="12700">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pic>
        <p:nvPicPr>
          <p:cNvPr id="19" name="Picture 18">
            <a:extLst>
              <a:ext uri="{FF2B5EF4-FFF2-40B4-BE49-F238E27FC236}">
                <a16:creationId xmlns:a16="http://schemas.microsoft.com/office/drawing/2014/main" id="{18EB384D-7732-298B-0C4C-D9F9016F499C}"/>
              </a:ext>
            </a:extLst>
          </p:cNvPr>
          <p:cNvPicPr>
            <a:picLocks noChangeAspect="1"/>
          </p:cNvPicPr>
          <p:nvPr/>
        </p:nvPicPr>
        <p:blipFill>
          <a:blip r:embed="rId2"/>
          <a:stretch>
            <a:fillRect/>
          </a:stretch>
        </p:blipFill>
        <p:spPr>
          <a:xfrm>
            <a:off x="246478" y="1291790"/>
            <a:ext cx="5438042" cy="3905050"/>
          </a:xfrm>
          <a:prstGeom prst="rect">
            <a:avLst/>
          </a:prstGeom>
        </p:spPr>
      </p:pic>
      <p:pic>
        <p:nvPicPr>
          <p:cNvPr id="21" name="Picture 20">
            <a:extLst>
              <a:ext uri="{FF2B5EF4-FFF2-40B4-BE49-F238E27FC236}">
                <a16:creationId xmlns:a16="http://schemas.microsoft.com/office/drawing/2014/main" id="{D41FD082-D88E-D37E-DC9C-2C642833A775}"/>
              </a:ext>
            </a:extLst>
          </p:cNvPr>
          <p:cNvPicPr>
            <a:picLocks noChangeAspect="1"/>
          </p:cNvPicPr>
          <p:nvPr/>
        </p:nvPicPr>
        <p:blipFill>
          <a:blip r:embed="rId3"/>
          <a:stretch>
            <a:fillRect/>
          </a:stretch>
        </p:blipFill>
        <p:spPr>
          <a:xfrm>
            <a:off x="5842896" y="2481307"/>
            <a:ext cx="6102626" cy="3856901"/>
          </a:xfrm>
          <a:prstGeom prst="rect">
            <a:avLst/>
          </a:prstGeom>
        </p:spPr>
      </p:pic>
    </p:spTree>
    <p:extLst>
      <p:ext uri="{BB962C8B-B14F-4D97-AF65-F5344CB8AC3E}">
        <p14:creationId xmlns:p14="http://schemas.microsoft.com/office/powerpoint/2010/main" val="163594941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 name="Straight Connector 1">
            <a:extLst>
              <a:ext uri="{FF2B5EF4-FFF2-40B4-BE49-F238E27FC236}">
                <a16:creationId xmlns:a16="http://schemas.microsoft.com/office/drawing/2014/main" id="{80850774-7890-1BCA-62FC-1D8150DEC293}"/>
              </a:ext>
            </a:extLst>
          </p:cNvPr>
          <p:cNvCxnSpPr/>
          <p:nvPr/>
        </p:nvCxnSpPr>
        <p:spPr>
          <a:xfrm>
            <a:off x="0" y="6508277"/>
            <a:ext cx="12192000" cy="0"/>
          </a:xfrm>
          <a:prstGeom prst="line">
            <a:avLst/>
          </a:prstGeom>
          <a:ln w="12700">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pic>
        <p:nvPicPr>
          <p:cNvPr id="4" name="Picture 3">
            <a:extLst>
              <a:ext uri="{FF2B5EF4-FFF2-40B4-BE49-F238E27FC236}">
                <a16:creationId xmlns:a16="http://schemas.microsoft.com/office/drawing/2014/main" id="{01CC8411-B678-6C10-4F47-7494AC9D5292}"/>
              </a:ext>
            </a:extLst>
          </p:cNvPr>
          <p:cNvPicPr>
            <a:picLocks noChangeAspect="1"/>
          </p:cNvPicPr>
          <p:nvPr/>
        </p:nvPicPr>
        <p:blipFill>
          <a:blip r:embed="rId2"/>
          <a:stretch>
            <a:fillRect/>
          </a:stretch>
        </p:blipFill>
        <p:spPr>
          <a:xfrm>
            <a:off x="208047" y="845216"/>
            <a:ext cx="5741415" cy="2583784"/>
          </a:xfrm>
          <a:prstGeom prst="rect">
            <a:avLst/>
          </a:prstGeom>
        </p:spPr>
      </p:pic>
      <p:pic>
        <p:nvPicPr>
          <p:cNvPr id="6" name="Picture 5">
            <a:extLst>
              <a:ext uri="{FF2B5EF4-FFF2-40B4-BE49-F238E27FC236}">
                <a16:creationId xmlns:a16="http://schemas.microsoft.com/office/drawing/2014/main" id="{A8F863D2-DEC1-2FAD-5885-027C8ACF2A18}"/>
              </a:ext>
            </a:extLst>
          </p:cNvPr>
          <p:cNvPicPr>
            <a:picLocks noChangeAspect="1"/>
          </p:cNvPicPr>
          <p:nvPr/>
        </p:nvPicPr>
        <p:blipFill>
          <a:blip r:embed="rId3"/>
          <a:stretch>
            <a:fillRect/>
          </a:stretch>
        </p:blipFill>
        <p:spPr>
          <a:xfrm>
            <a:off x="208048" y="3576612"/>
            <a:ext cx="5741414" cy="2804887"/>
          </a:xfrm>
          <a:prstGeom prst="rect">
            <a:avLst/>
          </a:prstGeom>
        </p:spPr>
      </p:pic>
      <p:pic>
        <p:nvPicPr>
          <p:cNvPr id="8" name="Picture 7">
            <a:extLst>
              <a:ext uri="{FF2B5EF4-FFF2-40B4-BE49-F238E27FC236}">
                <a16:creationId xmlns:a16="http://schemas.microsoft.com/office/drawing/2014/main" id="{221F8ECD-3144-FE6E-FC72-F7D60726F684}"/>
              </a:ext>
            </a:extLst>
          </p:cNvPr>
          <p:cNvPicPr>
            <a:picLocks noChangeAspect="1"/>
          </p:cNvPicPr>
          <p:nvPr/>
        </p:nvPicPr>
        <p:blipFill>
          <a:blip r:embed="rId4"/>
          <a:stretch>
            <a:fillRect/>
          </a:stretch>
        </p:blipFill>
        <p:spPr>
          <a:xfrm>
            <a:off x="6069584" y="1702892"/>
            <a:ext cx="5914368" cy="4002453"/>
          </a:xfrm>
          <a:prstGeom prst="rect">
            <a:avLst/>
          </a:prstGeom>
        </p:spPr>
      </p:pic>
    </p:spTree>
    <p:extLst>
      <p:ext uri="{BB962C8B-B14F-4D97-AF65-F5344CB8AC3E}">
        <p14:creationId xmlns:p14="http://schemas.microsoft.com/office/powerpoint/2010/main" val="158939856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2CD85EB-086E-4E20-FF41-94301EB6B753}"/>
            </a:ext>
          </a:extLst>
        </p:cNvPr>
        <p:cNvGrpSpPr/>
        <p:nvPr/>
      </p:nvGrpSpPr>
      <p:grpSpPr>
        <a:xfrm>
          <a:off x="0" y="0"/>
          <a:ext cx="0" cy="0"/>
          <a:chOff x="0" y="0"/>
          <a:chExt cx="0" cy="0"/>
        </a:xfrm>
      </p:grpSpPr>
      <p:cxnSp>
        <p:nvCxnSpPr>
          <p:cNvPr id="2" name="Straight Connector 1">
            <a:extLst>
              <a:ext uri="{FF2B5EF4-FFF2-40B4-BE49-F238E27FC236}">
                <a16:creationId xmlns:a16="http://schemas.microsoft.com/office/drawing/2014/main" id="{2B9AB537-108D-A582-ECF6-0820CE00BE14}"/>
              </a:ext>
            </a:extLst>
          </p:cNvPr>
          <p:cNvCxnSpPr/>
          <p:nvPr/>
        </p:nvCxnSpPr>
        <p:spPr>
          <a:xfrm>
            <a:off x="0" y="6508277"/>
            <a:ext cx="12192000" cy="0"/>
          </a:xfrm>
          <a:prstGeom prst="line">
            <a:avLst/>
          </a:prstGeom>
          <a:ln w="12700">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pic>
        <p:nvPicPr>
          <p:cNvPr id="5" name="Picture 4">
            <a:extLst>
              <a:ext uri="{FF2B5EF4-FFF2-40B4-BE49-F238E27FC236}">
                <a16:creationId xmlns:a16="http://schemas.microsoft.com/office/drawing/2014/main" id="{87E3D649-9A75-6716-6C40-303DD67DAB81}"/>
              </a:ext>
            </a:extLst>
          </p:cNvPr>
          <p:cNvPicPr>
            <a:picLocks noChangeAspect="1"/>
          </p:cNvPicPr>
          <p:nvPr/>
        </p:nvPicPr>
        <p:blipFill>
          <a:blip r:embed="rId2"/>
          <a:srcRect l="7604"/>
          <a:stretch>
            <a:fillRect/>
          </a:stretch>
        </p:blipFill>
        <p:spPr>
          <a:xfrm>
            <a:off x="0" y="1005840"/>
            <a:ext cx="6384006" cy="4846320"/>
          </a:xfrm>
          <a:prstGeom prst="rect">
            <a:avLst/>
          </a:prstGeom>
        </p:spPr>
      </p:pic>
      <p:pic>
        <p:nvPicPr>
          <p:cNvPr id="9" name="Picture 8">
            <a:extLst>
              <a:ext uri="{FF2B5EF4-FFF2-40B4-BE49-F238E27FC236}">
                <a16:creationId xmlns:a16="http://schemas.microsoft.com/office/drawing/2014/main" id="{2E64C02F-E17B-8DA7-FDFB-31671AB3E3AC}"/>
              </a:ext>
            </a:extLst>
          </p:cNvPr>
          <p:cNvPicPr>
            <a:picLocks noChangeAspect="1"/>
          </p:cNvPicPr>
          <p:nvPr/>
        </p:nvPicPr>
        <p:blipFill>
          <a:blip r:embed="rId3"/>
          <a:srcRect l="16262" r="26802"/>
          <a:stretch>
            <a:fillRect/>
          </a:stretch>
        </p:blipFill>
        <p:spPr>
          <a:xfrm>
            <a:off x="4282441" y="1488592"/>
            <a:ext cx="3855720" cy="3880816"/>
          </a:xfrm>
          <a:prstGeom prst="rect">
            <a:avLst/>
          </a:prstGeom>
        </p:spPr>
      </p:pic>
      <p:pic>
        <p:nvPicPr>
          <p:cNvPr id="11" name="Picture 10">
            <a:extLst>
              <a:ext uri="{FF2B5EF4-FFF2-40B4-BE49-F238E27FC236}">
                <a16:creationId xmlns:a16="http://schemas.microsoft.com/office/drawing/2014/main" id="{6DCAB4B3-15F5-AD87-C022-507012952C58}"/>
              </a:ext>
            </a:extLst>
          </p:cNvPr>
          <p:cNvPicPr>
            <a:picLocks noChangeAspect="1"/>
          </p:cNvPicPr>
          <p:nvPr/>
        </p:nvPicPr>
        <p:blipFill>
          <a:blip r:embed="rId4"/>
          <a:srcRect l="8369" r="16420"/>
          <a:stretch>
            <a:fillRect/>
          </a:stretch>
        </p:blipFill>
        <p:spPr>
          <a:xfrm>
            <a:off x="7787639" y="2517427"/>
            <a:ext cx="4404361" cy="3880817"/>
          </a:xfrm>
          <a:prstGeom prst="rect">
            <a:avLst/>
          </a:prstGeom>
        </p:spPr>
      </p:pic>
      <p:sp>
        <p:nvSpPr>
          <p:cNvPr id="15" name="Freeform: Shape 14">
            <a:extLst>
              <a:ext uri="{FF2B5EF4-FFF2-40B4-BE49-F238E27FC236}">
                <a16:creationId xmlns:a16="http://schemas.microsoft.com/office/drawing/2014/main" id="{8073EC54-5DC9-5097-49E8-A5888BAEE2D8}"/>
              </a:ext>
            </a:extLst>
          </p:cNvPr>
          <p:cNvSpPr/>
          <p:nvPr/>
        </p:nvSpPr>
        <p:spPr>
          <a:xfrm>
            <a:off x="8065698" y="5589472"/>
            <a:ext cx="2553419" cy="698740"/>
          </a:xfrm>
          <a:custGeom>
            <a:avLst/>
            <a:gdLst>
              <a:gd name="connsiteX0" fmla="*/ 2518913 w 2553419"/>
              <a:gd name="connsiteY0" fmla="*/ 552090 h 698740"/>
              <a:gd name="connsiteX1" fmla="*/ 2553419 w 2553419"/>
              <a:gd name="connsiteY1" fmla="*/ 431321 h 698740"/>
              <a:gd name="connsiteX2" fmla="*/ 2544792 w 2553419"/>
              <a:gd name="connsiteY2" fmla="*/ 284672 h 698740"/>
              <a:gd name="connsiteX3" fmla="*/ 2501660 w 2553419"/>
              <a:gd name="connsiteY3" fmla="*/ 232913 h 698740"/>
              <a:gd name="connsiteX4" fmla="*/ 2441275 w 2553419"/>
              <a:gd name="connsiteY4" fmla="*/ 207034 h 698740"/>
              <a:gd name="connsiteX5" fmla="*/ 2355011 w 2553419"/>
              <a:gd name="connsiteY5" fmla="*/ 172528 h 698740"/>
              <a:gd name="connsiteX6" fmla="*/ 2286000 w 2553419"/>
              <a:gd name="connsiteY6" fmla="*/ 138023 h 698740"/>
              <a:gd name="connsiteX7" fmla="*/ 2242868 w 2553419"/>
              <a:gd name="connsiteY7" fmla="*/ 120770 h 698740"/>
              <a:gd name="connsiteX8" fmla="*/ 2199736 w 2553419"/>
              <a:gd name="connsiteY8" fmla="*/ 112143 h 698740"/>
              <a:gd name="connsiteX9" fmla="*/ 1863306 w 2553419"/>
              <a:gd name="connsiteY9" fmla="*/ 77638 h 698740"/>
              <a:gd name="connsiteX10" fmla="*/ 1682151 w 2553419"/>
              <a:gd name="connsiteY10" fmla="*/ 51758 h 698740"/>
              <a:gd name="connsiteX11" fmla="*/ 1604513 w 2553419"/>
              <a:gd name="connsiteY11" fmla="*/ 25879 h 698740"/>
              <a:gd name="connsiteX12" fmla="*/ 1561381 w 2553419"/>
              <a:gd name="connsiteY12" fmla="*/ 8626 h 698740"/>
              <a:gd name="connsiteX13" fmla="*/ 1449238 w 2553419"/>
              <a:gd name="connsiteY13" fmla="*/ 0 h 698740"/>
              <a:gd name="connsiteX14" fmla="*/ 854015 w 2553419"/>
              <a:gd name="connsiteY14" fmla="*/ 8626 h 698740"/>
              <a:gd name="connsiteX15" fmla="*/ 785004 w 2553419"/>
              <a:gd name="connsiteY15" fmla="*/ 17253 h 698740"/>
              <a:gd name="connsiteX16" fmla="*/ 655608 w 2553419"/>
              <a:gd name="connsiteY16" fmla="*/ 25879 h 698740"/>
              <a:gd name="connsiteX17" fmla="*/ 595223 w 2553419"/>
              <a:gd name="connsiteY17" fmla="*/ 69011 h 698740"/>
              <a:gd name="connsiteX18" fmla="*/ 517585 w 2553419"/>
              <a:gd name="connsiteY18" fmla="*/ 77638 h 698740"/>
              <a:gd name="connsiteX19" fmla="*/ 457200 w 2553419"/>
              <a:gd name="connsiteY19" fmla="*/ 94890 h 698740"/>
              <a:gd name="connsiteX20" fmla="*/ 345057 w 2553419"/>
              <a:gd name="connsiteY20" fmla="*/ 138023 h 698740"/>
              <a:gd name="connsiteX21" fmla="*/ 284672 w 2553419"/>
              <a:gd name="connsiteY21" fmla="*/ 163902 h 698740"/>
              <a:gd name="connsiteX22" fmla="*/ 250166 w 2553419"/>
              <a:gd name="connsiteY22" fmla="*/ 181155 h 698740"/>
              <a:gd name="connsiteX23" fmla="*/ 198408 w 2553419"/>
              <a:gd name="connsiteY23" fmla="*/ 189781 h 698740"/>
              <a:gd name="connsiteX24" fmla="*/ 138023 w 2553419"/>
              <a:gd name="connsiteY24" fmla="*/ 224287 h 698740"/>
              <a:gd name="connsiteX25" fmla="*/ 112143 w 2553419"/>
              <a:gd name="connsiteY25" fmla="*/ 241540 h 698740"/>
              <a:gd name="connsiteX26" fmla="*/ 60385 w 2553419"/>
              <a:gd name="connsiteY26" fmla="*/ 284672 h 698740"/>
              <a:gd name="connsiteX27" fmla="*/ 34506 w 2553419"/>
              <a:gd name="connsiteY27" fmla="*/ 336430 h 698740"/>
              <a:gd name="connsiteX28" fmla="*/ 8626 w 2553419"/>
              <a:gd name="connsiteY28" fmla="*/ 362309 h 698740"/>
              <a:gd name="connsiteX29" fmla="*/ 0 w 2553419"/>
              <a:gd name="connsiteY29" fmla="*/ 414068 h 698740"/>
              <a:gd name="connsiteX30" fmla="*/ 43132 w 2553419"/>
              <a:gd name="connsiteY30" fmla="*/ 500332 h 698740"/>
              <a:gd name="connsiteX31" fmla="*/ 224287 w 2553419"/>
              <a:gd name="connsiteY31" fmla="*/ 560717 h 698740"/>
              <a:gd name="connsiteX32" fmla="*/ 293298 w 2553419"/>
              <a:gd name="connsiteY32" fmla="*/ 569343 h 698740"/>
              <a:gd name="connsiteX33" fmla="*/ 396815 w 2553419"/>
              <a:gd name="connsiteY33" fmla="*/ 595223 h 698740"/>
              <a:gd name="connsiteX34" fmla="*/ 457200 w 2553419"/>
              <a:gd name="connsiteY34" fmla="*/ 612475 h 698740"/>
              <a:gd name="connsiteX35" fmla="*/ 517585 w 2553419"/>
              <a:gd name="connsiteY35" fmla="*/ 621102 h 698740"/>
              <a:gd name="connsiteX36" fmla="*/ 698740 w 2553419"/>
              <a:gd name="connsiteY36" fmla="*/ 646981 h 698740"/>
              <a:gd name="connsiteX37" fmla="*/ 940279 w 2553419"/>
              <a:gd name="connsiteY37" fmla="*/ 672860 h 698740"/>
              <a:gd name="connsiteX38" fmla="*/ 1613140 w 2553419"/>
              <a:gd name="connsiteY38" fmla="*/ 698740 h 698740"/>
              <a:gd name="connsiteX39" fmla="*/ 2225615 w 2553419"/>
              <a:gd name="connsiteY39" fmla="*/ 672860 h 698740"/>
              <a:gd name="connsiteX40" fmla="*/ 2251494 w 2553419"/>
              <a:gd name="connsiteY40" fmla="*/ 655607 h 698740"/>
              <a:gd name="connsiteX41" fmla="*/ 2286000 w 2553419"/>
              <a:gd name="connsiteY41" fmla="*/ 646981 h 698740"/>
              <a:gd name="connsiteX42" fmla="*/ 2398143 w 2553419"/>
              <a:gd name="connsiteY42" fmla="*/ 595223 h 698740"/>
              <a:gd name="connsiteX43" fmla="*/ 2458528 w 2553419"/>
              <a:gd name="connsiteY43" fmla="*/ 569343 h 698740"/>
              <a:gd name="connsiteX44" fmla="*/ 2493034 w 2553419"/>
              <a:gd name="connsiteY44" fmla="*/ 543464 h 698740"/>
              <a:gd name="connsiteX45" fmla="*/ 2518913 w 2553419"/>
              <a:gd name="connsiteY45" fmla="*/ 500332 h 698740"/>
              <a:gd name="connsiteX46" fmla="*/ 2493034 w 2553419"/>
              <a:gd name="connsiteY46" fmla="*/ 483079 h 698740"/>
              <a:gd name="connsiteX47" fmla="*/ 2415396 w 2553419"/>
              <a:gd name="connsiteY47" fmla="*/ 474453 h 698740"/>
              <a:gd name="connsiteX48" fmla="*/ 2363638 w 2553419"/>
              <a:gd name="connsiteY48" fmla="*/ 465826 h 698740"/>
              <a:gd name="connsiteX49" fmla="*/ 2372264 w 2553419"/>
              <a:gd name="connsiteY49" fmla="*/ 457200 h 6987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Lst>
            <a:rect l="l" t="t" r="r" b="b"/>
            <a:pathLst>
              <a:path w="2553419" h="698740">
                <a:moveTo>
                  <a:pt x="2518913" y="552090"/>
                </a:moveTo>
                <a:cubicBezTo>
                  <a:pt x="2545991" y="497935"/>
                  <a:pt x="2553419" y="497433"/>
                  <a:pt x="2553419" y="431321"/>
                </a:cubicBezTo>
                <a:cubicBezTo>
                  <a:pt x="2553419" y="382353"/>
                  <a:pt x="2552056" y="333098"/>
                  <a:pt x="2544792" y="284672"/>
                </a:cubicBezTo>
                <a:cubicBezTo>
                  <a:pt x="2543089" y="273319"/>
                  <a:pt x="2508612" y="237084"/>
                  <a:pt x="2501660" y="232913"/>
                </a:cubicBezTo>
                <a:cubicBezTo>
                  <a:pt x="2482882" y="221646"/>
                  <a:pt x="2460862" y="216827"/>
                  <a:pt x="2441275" y="207034"/>
                </a:cubicBezTo>
                <a:cubicBezTo>
                  <a:pt x="2349665" y="161230"/>
                  <a:pt x="2445982" y="195271"/>
                  <a:pt x="2355011" y="172528"/>
                </a:cubicBezTo>
                <a:cubicBezTo>
                  <a:pt x="2316104" y="162801"/>
                  <a:pt x="2331622" y="160834"/>
                  <a:pt x="2286000" y="138023"/>
                </a:cubicBezTo>
                <a:cubicBezTo>
                  <a:pt x="2272150" y="131098"/>
                  <a:pt x="2257700" y="125220"/>
                  <a:pt x="2242868" y="120770"/>
                </a:cubicBezTo>
                <a:cubicBezTo>
                  <a:pt x="2228824" y="116557"/>
                  <a:pt x="2214199" y="114553"/>
                  <a:pt x="2199736" y="112143"/>
                </a:cubicBezTo>
                <a:cubicBezTo>
                  <a:pt x="1995563" y="78114"/>
                  <a:pt x="2073789" y="88162"/>
                  <a:pt x="1863306" y="77638"/>
                </a:cubicBezTo>
                <a:cubicBezTo>
                  <a:pt x="1756430" y="34887"/>
                  <a:pt x="1897976" y="86290"/>
                  <a:pt x="1682151" y="51758"/>
                </a:cubicBezTo>
                <a:cubicBezTo>
                  <a:pt x="1655214" y="47448"/>
                  <a:pt x="1630203" y="35054"/>
                  <a:pt x="1604513" y="25879"/>
                </a:cubicBezTo>
                <a:cubicBezTo>
                  <a:pt x="1589930" y="20671"/>
                  <a:pt x="1576655" y="11172"/>
                  <a:pt x="1561381" y="8626"/>
                </a:cubicBezTo>
                <a:cubicBezTo>
                  <a:pt x="1524400" y="2462"/>
                  <a:pt x="1486619" y="2875"/>
                  <a:pt x="1449238" y="0"/>
                </a:cubicBezTo>
                <a:lnTo>
                  <a:pt x="854015" y="8626"/>
                </a:lnTo>
                <a:cubicBezTo>
                  <a:pt x="830840" y="9228"/>
                  <a:pt x="808100" y="15245"/>
                  <a:pt x="785004" y="17253"/>
                </a:cubicBezTo>
                <a:cubicBezTo>
                  <a:pt x="741939" y="20998"/>
                  <a:pt x="698740" y="23004"/>
                  <a:pt x="655608" y="25879"/>
                </a:cubicBezTo>
                <a:cubicBezTo>
                  <a:pt x="635480" y="40256"/>
                  <a:pt x="618384" y="60326"/>
                  <a:pt x="595223" y="69011"/>
                </a:cubicBezTo>
                <a:cubicBezTo>
                  <a:pt x="570842" y="78154"/>
                  <a:pt x="543178" y="72839"/>
                  <a:pt x="517585" y="77638"/>
                </a:cubicBezTo>
                <a:cubicBezTo>
                  <a:pt x="497010" y="81496"/>
                  <a:pt x="477328" y="89139"/>
                  <a:pt x="457200" y="94890"/>
                </a:cubicBezTo>
                <a:cubicBezTo>
                  <a:pt x="328742" y="168295"/>
                  <a:pt x="459584" y="102784"/>
                  <a:pt x="345057" y="138023"/>
                </a:cubicBezTo>
                <a:cubicBezTo>
                  <a:pt x="324126" y="144463"/>
                  <a:pt x="304608" y="154840"/>
                  <a:pt x="284672" y="163902"/>
                </a:cubicBezTo>
                <a:cubicBezTo>
                  <a:pt x="272965" y="169223"/>
                  <a:pt x="262483" y="177460"/>
                  <a:pt x="250166" y="181155"/>
                </a:cubicBezTo>
                <a:cubicBezTo>
                  <a:pt x="233413" y="186181"/>
                  <a:pt x="215661" y="186906"/>
                  <a:pt x="198408" y="189781"/>
                </a:cubicBezTo>
                <a:cubicBezTo>
                  <a:pt x="178280" y="201283"/>
                  <a:pt x="157902" y="212360"/>
                  <a:pt x="138023" y="224287"/>
                </a:cubicBezTo>
                <a:cubicBezTo>
                  <a:pt x="129133" y="229621"/>
                  <a:pt x="119474" y="234209"/>
                  <a:pt x="112143" y="241540"/>
                </a:cubicBezTo>
                <a:cubicBezTo>
                  <a:pt x="63370" y="290313"/>
                  <a:pt x="134414" y="247657"/>
                  <a:pt x="60385" y="284672"/>
                </a:cubicBezTo>
                <a:cubicBezTo>
                  <a:pt x="51759" y="301925"/>
                  <a:pt x="45206" y="320381"/>
                  <a:pt x="34506" y="336430"/>
                </a:cubicBezTo>
                <a:cubicBezTo>
                  <a:pt x="27739" y="346581"/>
                  <a:pt x="13581" y="351161"/>
                  <a:pt x="8626" y="362309"/>
                </a:cubicBezTo>
                <a:cubicBezTo>
                  <a:pt x="1522" y="378292"/>
                  <a:pt x="2875" y="396815"/>
                  <a:pt x="0" y="414068"/>
                </a:cubicBezTo>
                <a:cubicBezTo>
                  <a:pt x="14377" y="442823"/>
                  <a:pt x="24446" y="474172"/>
                  <a:pt x="43132" y="500332"/>
                </a:cubicBezTo>
                <a:cubicBezTo>
                  <a:pt x="83014" y="556167"/>
                  <a:pt x="169357" y="551562"/>
                  <a:pt x="224287" y="560717"/>
                </a:cubicBezTo>
                <a:cubicBezTo>
                  <a:pt x="247154" y="564528"/>
                  <a:pt x="270294" y="566468"/>
                  <a:pt x="293298" y="569343"/>
                </a:cubicBezTo>
                <a:cubicBezTo>
                  <a:pt x="406932" y="607221"/>
                  <a:pt x="283568" y="569089"/>
                  <a:pt x="396815" y="595223"/>
                </a:cubicBezTo>
                <a:cubicBezTo>
                  <a:pt x="417213" y="599930"/>
                  <a:pt x="436731" y="608089"/>
                  <a:pt x="457200" y="612475"/>
                </a:cubicBezTo>
                <a:cubicBezTo>
                  <a:pt x="477081" y="616735"/>
                  <a:pt x="497501" y="617931"/>
                  <a:pt x="517585" y="621102"/>
                </a:cubicBezTo>
                <a:cubicBezTo>
                  <a:pt x="670998" y="645326"/>
                  <a:pt x="568312" y="632490"/>
                  <a:pt x="698740" y="646981"/>
                </a:cubicBezTo>
                <a:cubicBezTo>
                  <a:pt x="837180" y="677746"/>
                  <a:pt x="734641" y="659449"/>
                  <a:pt x="940279" y="672860"/>
                </a:cubicBezTo>
                <a:cubicBezTo>
                  <a:pt x="1393116" y="702393"/>
                  <a:pt x="956598" y="685866"/>
                  <a:pt x="1613140" y="698740"/>
                </a:cubicBezTo>
                <a:cubicBezTo>
                  <a:pt x="1817298" y="690113"/>
                  <a:pt x="2021739" y="686636"/>
                  <a:pt x="2225615" y="672860"/>
                </a:cubicBezTo>
                <a:cubicBezTo>
                  <a:pt x="2235959" y="672161"/>
                  <a:pt x="2241965" y="659691"/>
                  <a:pt x="2251494" y="655607"/>
                </a:cubicBezTo>
                <a:cubicBezTo>
                  <a:pt x="2262391" y="650937"/>
                  <a:pt x="2274498" y="649856"/>
                  <a:pt x="2286000" y="646981"/>
                </a:cubicBezTo>
                <a:cubicBezTo>
                  <a:pt x="2337690" y="621136"/>
                  <a:pt x="2342343" y="617543"/>
                  <a:pt x="2398143" y="595223"/>
                </a:cubicBezTo>
                <a:cubicBezTo>
                  <a:pt x="2430754" y="582179"/>
                  <a:pt x="2423623" y="591159"/>
                  <a:pt x="2458528" y="569343"/>
                </a:cubicBezTo>
                <a:cubicBezTo>
                  <a:pt x="2470720" y="561723"/>
                  <a:pt x="2481532" y="552090"/>
                  <a:pt x="2493034" y="543464"/>
                </a:cubicBezTo>
                <a:cubicBezTo>
                  <a:pt x="2501660" y="529087"/>
                  <a:pt x="2518913" y="517099"/>
                  <a:pt x="2518913" y="500332"/>
                </a:cubicBezTo>
                <a:cubicBezTo>
                  <a:pt x="2518913" y="489964"/>
                  <a:pt x="2503092" y="485593"/>
                  <a:pt x="2493034" y="483079"/>
                </a:cubicBezTo>
                <a:cubicBezTo>
                  <a:pt x="2467773" y="476764"/>
                  <a:pt x="2441206" y="477894"/>
                  <a:pt x="2415396" y="474453"/>
                </a:cubicBezTo>
                <a:cubicBezTo>
                  <a:pt x="2398059" y="472141"/>
                  <a:pt x="2380891" y="468702"/>
                  <a:pt x="2363638" y="465826"/>
                </a:cubicBezTo>
                <a:cubicBezTo>
                  <a:pt x="2327893" y="441997"/>
                  <a:pt x="2327700" y="446058"/>
                  <a:pt x="2372264" y="457200"/>
                </a:cubicBezTo>
              </a:path>
            </a:pathLst>
          </a:cu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Tree>
    <p:extLst>
      <p:ext uri="{BB962C8B-B14F-4D97-AF65-F5344CB8AC3E}">
        <p14:creationId xmlns:p14="http://schemas.microsoft.com/office/powerpoint/2010/main" val="157971442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 name="Straight Connector 1">
            <a:extLst>
              <a:ext uri="{FF2B5EF4-FFF2-40B4-BE49-F238E27FC236}">
                <a16:creationId xmlns:a16="http://schemas.microsoft.com/office/drawing/2014/main" id="{8DDE5376-533C-FC75-D39B-2B14C032EB6B}"/>
              </a:ext>
            </a:extLst>
          </p:cNvPr>
          <p:cNvCxnSpPr/>
          <p:nvPr/>
        </p:nvCxnSpPr>
        <p:spPr>
          <a:xfrm>
            <a:off x="0" y="6539811"/>
            <a:ext cx="12192000" cy="0"/>
          </a:xfrm>
          <a:prstGeom prst="line">
            <a:avLst/>
          </a:prstGeom>
          <a:ln w="12700">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sp>
        <p:nvSpPr>
          <p:cNvPr id="5" name="Rectangle 3">
            <a:extLst>
              <a:ext uri="{FF2B5EF4-FFF2-40B4-BE49-F238E27FC236}">
                <a16:creationId xmlns:a16="http://schemas.microsoft.com/office/drawing/2014/main" id="{6154AFB9-110A-2F03-24C1-4AB10ED70690}"/>
              </a:ext>
            </a:extLst>
          </p:cNvPr>
          <p:cNvSpPr>
            <a:spLocks noChangeArrowheads="1"/>
          </p:cNvSpPr>
          <p:nvPr/>
        </p:nvSpPr>
        <p:spPr bwMode="auto">
          <a:xfrm rot="10800000" flipV="1">
            <a:off x="238664" y="907500"/>
            <a:ext cx="11559396" cy="563231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285750" marR="0" lvl="0" indent="-285750" algn="l"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endParaRPr kumimoji="0" lang="en-US" altLang="en-US" sz="1800" b="1"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endParaRPr>
          </a:p>
          <a:p>
            <a:pPr marL="285750" marR="0" lvl="0" indent="-285750" algn="l"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r>
              <a:rPr kumimoji="0" lang="en-US" altLang="en-US" sz="1800" b="1"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Multi-country or Global Dataset:</a:t>
            </a:r>
            <a:endParaRPr kumimoji="0" lang="en-US" altLang="en-US" sz="1800"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endParaRPr>
          </a:p>
          <a:p>
            <a:pPr marL="742950" marR="0" lvl="1" indent="-285750" algn="l" defTabSz="914400" rtl="0" eaLnBrk="0" fontAlgn="base" latinLnBrk="0" hangingPunct="0">
              <a:lnSpc>
                <a:spcPct val="100000"/>
              </a:lnSpc>
              <a:spcBef>
                <a:spcPct val="0"/>
              </a:spcBef>
              <a:spcAft>
                <a:spcPct val="0"/>
              </a:spcAft>
              <a:buClrTx/>
              <a:buSzTx/>
              <a:buFont typeface="Courier New" panose="02070309020205020404" pitchFamily="49" charset="0"/>
              <a:buChar char="o"/>
              <a:tabLst/>
            </a:pPr>
            <a:r>
              <a:rPr kumimoji="0" lang="en-US" altLang="en-US" sz="1800"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Extend the model to include emission data from other countries or global datasets (like UN, IPCC).</a:t>
            </a:r>
          </a:p>
          <a:p>
            <a:pPr marL="742950" marR="0" lvl="1" indent="-285750" algn="l" defTabSz="914400" rtl="0" eaLnBrk="0" fontAlgn="base" latinLnBrk="0" hangingPunct="0">
              <a:lnSpc>
                <a:spcPct val="100000"/>
              </a:lnSpc>
              <a:spcBef>
                <a:spcPct val="0"/>
              </a:spcBef>
              <a:spcAft>
                <a:spcPct val="0"/>
              </a:spcAft>
              <a:buClrTx/>
              <a:buSzTx/>
              <a:buFont typeface="Courier New" panose="02070309020205020404" pitchFamily="49" charset="0"/>
              <a:buChar char="o"/>
              <a:tabLst/>
            </a:pPr>
            <a:r>
              <a:rPr kumimoji="0" lang="en-US" altLang="en-US" sz="1800"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This can help build a worldwide emission forecasting tool.</a:t>
            </a:r>
          </a:p>
          <a:p>
            <a:pPr marL="285750" marR="0" lvl="0" indent="-285750" algn="l"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r>
              <a:rPr kumimoji="0" lang="en-US" altLang="en-US" sz="1800" b="1"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Inclusion of More Greenhouse Gases:</a:t>
            </a:r>
            <a:endParaRPr kumimoji="0" lang="en-US" altLang="en-US" sz="1800"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endParaRPr>
          </a:p>
          <a:p>
            <a:pPr marL="742950" marR="0" lvl="1" indent="-285750" algn="l" defTabSz="914400" rtl="0" eaLnBrk="0" fontAlgn="base" latinLnBrk="0" hangingPunct="0">
              <a:lnSpc>
                <a:spcPct val="100000"/>
              </a:lnSpc>
              <a:spcBef>
                <a:spcPct val="0"/>
              </a:spcBef>
              <a:spcAft>
                <a:spcPct val="0"/>
              </a:spcAft>
              <a:buClrTx/>
              <a:buSzTx/>
              <a:buFont typeface="Courier New" panose="02070309020205020404" pitchFamily="49" charset="0"/>
              <a:buChar char="o"/>
              <a:tabLst/>
            </a:pPr>
            <a:r>
              <a:rPr kumimoji="0" lang="en-US" altLang="en-US" sz="1800"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Currently focused on CO₂-equivalent values; future versions can separately predict CH₄, N₂O, etc., for deeper insights.</a:t>
            </a:r>
          </a:p>
          <a:p>
            <a:pPr marL="285750" marR="0" lvl="0" indent="-285750" algn="l"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r>
              <a:rPr kumimoji="0" lang="en-US" altLang="en-US" sz="1800" b="1"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Use of Advanced Models:</a:t>
            </a:r>
            <a:endParaRPr kumimoji="0" lang="en-US" altLang="en-US" sz="1800"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endParaRPr>
          </a:p>
          <a:p>
            <a:pPr marL="742950" marR="0" lvl="1" indent="-285750" algn="l" defTabSz="914400" rtl="0" eaLnBrk="0" fontAlgn="base" latinLnBrk="0" hangingPunct="0">
              <a:lnSpc>
                <a:spcPct val="100000"/>
              </a:lnSpc>
              <a:spcBef>
                <a:spcPct val="0"/>
              </a:spcBef>
              <a:spcAft>
                <a:spcPct val="0"/>
              </a:spcAft>
              <a:buClrTx/>
              <a:buSzTx/>
              <a:buFont typeface="Courier New" panose="02070309020205020404" pitchFamily="49" charset="0"/>
              <a:buChar char="o"/>
              <a:tabLst/>
            </a:pPr>
            <a:r>
              <a:rPr kumimoji="0" lang="en-US" altLang="en-US" sz="1800"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Try more powerful algorithms like </a:t>
            </a:r>
            <a:r>
              <a:rPr kumimoji="0" lang="en-US" altLang="en-US" sz="1800" b="0" i="0" u="none" strike="noStrike" cap="none" normalizeH="0" baseline="0" dirty="0" err="1">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XGBoost</a:t>
            </a:r>
            <a:r>
              <a:rPr kumimoji="0" lang="en-US" altLang="en-US" sz="1800"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 LSTM (for time series), or Neural Networks to improve prediction accuracy.</a:t>
            </a:r>
          </a:p>
          <a:p>
            <a:pPr marL="285750" marR="0" lvl="0" indent="-285750" algn="l"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r>
              <a:rPr kumimoji="0" lang="en-US" altLang="en-US" sz="1800" b="1"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Integration with Real-time Data:</a:t>
            </a:r>
            <a:endParaRPr kumimoji="0" lang="en-US" altLang="en-US" sz="1800"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endParaRPr>
          </a:p>
          <a:p>
            <a:pPr marL="742950" marR="0" lvl="1" indent="-285750" algn="l" defTabSz="914400" rtl="0" eaLnBrk="0" fontAlgn="base" latinLnBrk="0" hangingPunct="0">
              <a:lnSpc>
                <a:spcPct val="100000"/>
              </a:lnSpc>
              <a:spcBef>
                <a:spcPct val="0"/>
              </a:spcBef>
              <a:spcAft>
                <a:spcPct val="0"/>
              </a:spcAft>
              <a:buClrTx/>
              <a:buSzTx/>
              <a:buFont typeface="Courier New" panose="02070309020205020404" pitchFamily="49" charset="0"/>
              <a:buChar char="o"/>
              <a:tabLst/>
            </a:pPr>
            <a:r>
              <a:rPr kumimoji="0" lang="en-US" altLang="en-US" sz="1800"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Connect the model to real-time sensors or IoT-based emission tracking systems for live forecasting.</a:t>
            </a:r>
          </a:p>
          <a:p>
            <a:pPr marL="285750" marR="0" lvl="0" indent="-285750" algn="l"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r>
              <a:rPr kumimoji="0" lang="en-US" altLang="en-US" sz="1800" b="1"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Web-based Dashboard:</a:t>
            </a:r>
            <a:endParaRPr kumimoji="0" lang="en-US" altLang="en-US" sz="1800"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endParaRPr>
          </a:p>
          <a:p>
            <a:pPr marL="742950" marR="0" lvl="1" indent="-285750" algn="l" defTabSz="914400" rtl="0" eaLnBrk="0" fontAlgn="base" latinLnBrk="0" hangingPunct="0">
              <a:lnSpc>
                <a:spcPct val="100000"/>
              </a:lnSpc>
              <a:spcBef>
                <a:spcPct val="0"/>
              </a:spcBef>
              <a:spcAft>
                <a:spcPct val="0"/>
              </a:spcAft>
              <a:buClrTx/>
              <a:buSzTx/>
              <a:buFont typeface="Courier New" panose="02070309020205020404" pitchFamily="49" charset="0"/>
              <a:buChar char="o"/>
              <a:tabLst/>
            </a:pPr>
            <a:r>
              <a:rPr kumimoji="0" lang="en-US" altLang="en-US" sz="1800"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Build a user-friendly website or dashboard where policymakers can upload data and get predictions instantly.</a:t>
            </a:r>
          </a:p>
          <a:p>
            <a:pPr marL="285750" marR="0" lvl="0" indent="-285750" algn="l"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r>
              <a:rPr kumimoji="0" lang="en-US" altLang="en-US" sz="1800" b="1"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Scenario-based Prediction:</a:t>
            </a:r>
            <a:endParaRPr kumimoji="0" lang="en-US" altLang="en-US" sz="1800"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endParaRPr>
          </a:p>
          <a:p>
            <a:pPr marL="742950" marR="0" lvl="1" indent="-285750" algn="l" defTabSz="914400" rtl="0" eaLnBrk="0" fontAlgn="base" latinLnBrk="0" hangingPunct="0">
              <a:lnSpc>
                <a:spcPct val="100000"/>
              </a:lnSpc>
              <a:spcBef>
                <a:spcPct val="0"/>
              </a:spcBef>
              <a:spcAft>
                <a:spcPct val="0"/>
              </a:spcAft>
              <a:buClrTx/>
              <a:buSzTx/>
              <a:buFont typeface="Courier New" panose="02070309020205020404" pitchFamily="49" charset="0"/>
              <a:buChar char="o"/>
              <a:tabLst/>
            </a:pPr>
            <a:r>
              <a:rPr kumimoji="0" lang="en-US" altLang="en-US" sz="1800"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Allow users to input policy changes (e.g., reducing fossil fuel use) and simulate how it would affect future emissions.</a:t>
            </a:r>
          </a:p>
          <a:p>
            <a:pPr marL="285750" marR="0" lvl="0" indent="-285750" algn="l"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r>
              <a:rPr kumimoji="0" lang="en-US" altLang="en-US" sz="1800" b="1"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Climate Risk Forecasting:</a:t>
            </a:r>
            <a:endParaRPr kumimoji="0" lang="en-US" altLang="en-US" sz="1800"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endParaRPr>
          </a:p>
          <a:p>
            <a:pPr marL="742950" marR="0" lvl="1" indent="-285750" algn="l" defTabSz="914400" rtl="0" eaLnBrk="0" fontAlgn="base" latinLnBrk="0" hangingPunct="0">
              <a:lnSpc>
                <a:spcPct val="100000"/>
              </a:lnSpc>
              <a:spcBef>
                <a:spcPct val="0"/>
              </a:spcBef>
              <a:spcAft>
                <a:spcPct val="0"/>
              </a:spcAft>
              <a:buClrTx/>
              <a:buSzTx/>
              <a:buFont typeface="Courier New" panose="02070309020205020404" pitchFamily="49" charset="0"/>
              <a:buChar char="o"/>
              <a:tabLst/>
            </a:pPr>
            <a:r>
              <a:rPr kumimoji="0" lang="en-US" altLang="en-US" sz="1800"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Link the emission predictions to climate effects like temperature rise, rainfall change, etc., to visualize real-world impact.</a:t>
            </a:r>
          </a:p>
        </p:txBody>
      </p:sp>
      <p:sp>
        <p:nvSpPr>
          <p:cNvPr id="9" name="TextBox 8">
            <a:extLst>
              <a:ext uri="{FF2B5EF4-FFF2-40B4-BE49-F238E27FC236}">
                <a16:creationId xmlns:a16="http://schemas.microsoft.com/office/drawing/2014/main" id="{A54CED05-5249-3282-F676-20528836E20B}"/>
              </a:ext>
            </a:extLst>
          </p:cNvPr>
          <p:cNvSpPr txBox="1"/>
          <p:nvPr/>
        </p:nvSpPr>
        <p:spPr>
          <a:xfrm>
            <a:off x="157433" y="847118"/>
            <a:ext cx="6129066" cy="461665"/>
          </a:xfrm>
          <a:prstGeom prst="rect">
            <a:avLst/>
          </a:prstGeom>
          <a:noFill/>
        </p:spPr>
        <p:txBody>
          <a:bodyPr wrap="square">
            <a:spAutoFit/>
          </a:bodyPr>
          <a:lstStyle/>
          <a:p>
            <a:pPr lvl="0" eaLnBrk="0" fontAlgn="base" hangingPunct="0">
              <a:spcBef>
                <a:spcPct val="0"/>
              </a:spcBef>
              <a:spcAft>
                <a:spcPct val="0"/>
              </a:spcAft>
              <a:buClrTx/>
            </a:pPr>
            <a:r>
              <a:rPr lang="en-US" altLang="en-US" sz="2400" b="1" dirty="0">
                <a:solidFill>
                  <a:srgbClr val="213163"/>
                </a:solidFill>
                <a:latin typeface="Calibri" panose="020F0502020204030204" pitchFamily="34" charset="0"/>
                <a:ea typeface="Calibri" panose="020F0502020204030204" pitchFamily="34" charset="0"/>
                <a:cs typeface="Calibri" panose="020F0502020204030204" pitchFamily="34" charset="0"/>
              </a:rPr>
              <a:t>Future Scopes of the Project :</a:t>
            </a:r>
          </a:p>
        </p:txBody>
      </p:sp>
    </p:spTree>
    <p:extLst>
      <p:ext uri="{BB962C8B-B14F-4D97-AF65-F5344CB8AC3E}">
        <p14:creationId xmlns:p14="http://schemas.microsoft.com/office/powerpoint/2010/main" val="300751042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2361D872-7EC7-439F-A588-B1D90CB7A92F}"/>
              </a:ext>
            </a:extLst>
          </p:cNvPr>
          <p:cNvSpPr txBox="1"/>
          <p:nvPr/>
        </p:nvSpPr>
        <p:spPr>
          <a:xfrm>
            <a:off x="149087" y="988151"/>
            <a:ext cx="6102626" cy="461665"/>
          </a:xfrm>
          <a:prstGeom prst="rect">
            <a:avLst/>
          </a:prstGeom>
          <a:noFill/>
        </p:spPr>
        <p:txBody>
          <a:bodyPr wrap="square">
            <a:spAutoFit/>
          </a:bodyPr>
          <a:lstStyle/>
          <a:p>
            <a:r>
              <a:rPr lang="en-US" sz="2400" b="1" dirty="0">
                <a:solidFill>
                  <a:srgbClr val="213163"/>
                </a:solidFill>
              </a:rPr>
              <a:t>Conclusion:  </a:t>
            </a:r>
            <a:endParaRPr lang="en-IN" sz="2400" dirty="0">
              <a:solidFill>
                <a:srgbClr val="213163"/>
              </a:solidFill>
            </a:endParaRPr>
          </a:p>
        </p:txBody>
      </p:sp>
      <p:cxnSp>
        <p:nvCxnSpPr>
          <p:cNvPr id="2" name="Straight Connector 1">
            <a:extLst>
              <a:ext uri="{FF2B5EF4-FFF2-40B4-BE49-F238E27FC236}">
                <a16:creationId xmlns:a16="http://schemas.microsoft.com/office/drawing/2014/main" id="{B4113AF3-A0AD-B954-B9C1-B9AFBDD8786C}"/>
              </a:ext>
            </a:extLst>
          </p:cNvPr>
          <p:cNvCxnSpPr/>
          <p:nvPr/>
        </p:nvCxnSpPr>
        <p:spPr>
          <a:xfrm>
            <a:off x="0" y="6479429"/>
            <a:ext cx="12192000" cy="0"/>
          </a:xfrm>
          <a:prstGeom prst="line">
            <a:avLst/>
          </a:prstGeom>
          <a:ln w="12700">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pic>
        <p:nvPicPr>
          <p:cNvPr id="4" name="Picture 3" descr="Types of Agile Methodology">
            <a:extLst>
              <a:ext uri="{FF2B5EF4-FFF2-40B4-BE49-F238E27FC236}">
                <a16:creationId xmlns:a16="http://schemas.microsoft.com/office/drawing/2014/main" id="{598B58EB-92CC-817C-17B4-76705E067958}"/>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15339"/>
          <a:stretch>
            <a:fillRect/>
          </a:stretch>
        </p:blipFill>
        <p:spPr bwMode="auto">
          <a:xfrm>
            <a:off x="6937303" y="819983"/>
            <a:ext cx="5359879" cy="5621844"/>
          </a:xfrm>
          <a:prstGeom prst="rect">
            <a:avLst/>
          </a:prstGeom>
          <a:noFill/>
          <a:effectLst>
            <a:softEdge rad="317500"/>
          </a:effectLst>
          <a:extLst>
            <a:ext uri="{909E8E84-426E-40DD-AFC4-6F175D3DCCD1}">
              <a14:hiddenFill xmlns:a14="http://schemas.microsoft.com/office/drawing/2010/main">
                <a:solidFill>
                  <a:srgbClr val="FFFFFF"/>
                </a:solidFill>
              </a14:hiddenFill>
            </a:ext>
          </a:extLst>
        </p:spPr>
      </p:pic>
      <p:sp>
        <p:nvSpPr>
          <p:cNvPr id="6" name="Rectangle 2">
            <a:extLst>
              <a:ext uri="{FF2B5EF4-FFF2-40B4-BE49-F238E27FC236}">
                <a16:creationId xmlns:a16="http://schemas.microsoft.com/office/drawing/2014/main" id="{D376A8F4-F81F-C4C7-95A3-0A76E0D03729}"/>
              </a:ext>
            </a:extLst>
          </p:cNvPr>
          <p:cNvSpPr>
            <a:spLocks noChangeArrowheads="1"/>
          </p:cNvSpPr>
          <p:nvPr/>
        </p:nvSpPr>
        <p:spPr bwMode="auto">
          <a:xfrm>
            <a:off x="276044" y="1588229"/>
            <a:ext cx="6556077" cy="17543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This project shows how AI, especially Linear Regression, can be used to predict environmental changes like GHG emissions. </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Spotting future risks early helps in making better and smarter environmental decisions. Even though the model is simple, it can lead to more advanced tools like live tracking and complex forecasting, helping us move toward a cleaner and smarter future.</a:t>
            </a:r>
          </a:p>
        </p:txBody>
      </p:sp>
      <p:pic>
        <p:nvPicPr>
          <p:cNvPr id="12" name="Picture 29" descr="GitHub Logo, symbol, meaning, history, PNG, brand">
            <a:extLst>
              <a:ext uri="{FF2B5EF4-FFF2-40B4-BE49-F238E27FC236}">
                <a16:creationId xmlns:a16="http://schemas.microsoft.com/office/drawing/2014/main" id="{E77162F2-9866-A751-8F4D-7B02982B3B6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49087" y="3380157"/>
            <a:ext cx="971559" cy="546502"/>
          </a:xfrm>
          <a:prstGeom prst="rect">
            <a:avLst/>
          </a:prstGeom>
          <a:noFill/>
          <a:extLst>
            <a:ext uri="{909E8E84-426E-40DD-AFC4-6F175D3DCCD1}">
              <a14:hiddenFill xmlns:a14="http://schemas.microsoft.com/office/drawing/2010/main">
                <a:solidFill>
                  <a:srgbClr val="FFFFFF"/>
                </a:solidFill>
              </a14:hiddenFill>
            </a:ext>
          </a:extLst>
        </p:spPr>
      </p:pic>
      <p:sp>
        <p:nvSpPr>
          <p:cNvPr id="14" name="TextBox 13">
            <a:extLst>
              <a:ext uri="{FF2B5EF4-FFF2-40B4-BE49-F238E27FC236}">
                <a16:creationId xmlns:a16="http://schemas.microsoft.com/office/drawing/2014/main" id="{0D765E03-09A4-0887-03F0-2014EEF2032D}"/>
              </a:ext>
            </a:extLst>
          </p:cNvPr>
          <p:cNvSpPr txBox="1"/>
          <p:nvPr/>
        </p:nvSpPr>
        <p:spPr>
          <a:xfrm>
            <a:off x="4210902" y="5964149"/>
            <a:ext cx="2087592" cy="400110"/>
          </a:xfrm>
          <a:prstGeom prst="rect">
            <a:avLst/>
          </a:prstGeom>
          <a:noFill/>
        </p:spPr>
        <p:txBody>
          <a:bodyPr wrap="square">
            <a:spAutoFit/>
          </a:bodyPr>
          <a:lstStyle/>
          <a:p>
            <a:r>
              <a:rPr lang="en-US" sz="2000" b="1" u="sng" dirty="0">
                <a:solidFill>
                  <a:srgbClr val="213163"/>
                </a:solidFill>
              </a:rPr>
              <a:t>THANK YOU   </a:t>
            </a:r>
            <a:endParaRPr lang="en-IN" sz="2000" u="sng" dirty="0">
              <a:solidFill>
                <a:srgbClr val="213163"/>
              </a:solidFill>
            </a:endParaRPr>
          </a:p>
        </p:txBody>
      </p:sp>
    </p:spTree>
    <p:extLst>
      <p:ext uri="{BB962C8B-B14F-4D97-AF65-F5344CB8AC3E}">
        <p14:creationId xmlns:p14="http://schemas.microsoft.com/office/powerpoint/2010/main" val="151988358"/>
      </p:ext>
    </p:extLst>
  </p:cSld>
  <p:clrMapOvr>
    <a:masterClrMapping/>
  </p:clrMapOvr>
</p:sld>
</file>

<file path=ppt/theme/theme1.xml><?xml version="1.0" encoding="utf-8"?>
<a:theme xmlns:a="http://schemas.openxmlformats.org/drawingml/2006/main" name="Session 01 Design Thinking &amp; Critical Thinking">
  <a:themeElements>
    <a:clrScheme name="Simple Light">
      <a:dk1>
        <a:srgbClr val="000000"/>
      </a:dk1>
      <a:lt1>
        <a:srgbClr val="FFFFFF"/>
      </a:lt1>
      <a:dk2>
        <a:srgbClr val="595959"/>
      </a:dk2>
      <a:lt2>
        <a:srgbClr val="EEEEEE"/>
      </a:lt2>
      <a:accent1>
        <a:srgbClr val="FFAB40"/>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Session 01 Design Thinking &amp; Critical Thinking" id="{1DE73F69-F87A-4ED3-81C1-82D2BA622E0C}" vid="{37568650-F724-47C7-905E-9640F8017497}"/>
    </a:ext>
  </a:extLst>
</a:theme>
</file>

<file path=docProps/app.xml><?xml version="1.0" encoding="utf-8"?>
<Properties xmlns="http://schemas.openxmlformats.org/officeDocument/2006/extended-properties" xmlns:vt="http://schemas.openxmlformats.org/officeDocument/2006/docPropsVTypes">
  <Template>Session 01 Design Thinking &amp; Critical Thinking</Template>
  <TotalTime>357</TotalTime>
  <Words>1087</Words>
  <Application>Microsoft Office PowerPoint</Application>
  <PresentationFormat>Widescreen</PresentationFormat>
  <Paragraphs>106</Paragraphs>
  <Slides>12</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12</vt:i4>
      </vt:variant>
    </vt:vector>
  </HeadingPairs>
  <TitlesOfParts>
    <vt:vector size="18" baseType="lpstr">
      <vt:lpstr>Arial</vt:lpstr>
      <vt:lpstr>Arial Unicode MS</vt:lpstr>
      <vt:lpstr>Calibri</vt:lpstr>
      <vt:lpstr>Courier New</vt:lpstr>
      <vt:lpstr>Wingdings</vt:lpstr>
      <vt:lpstr>Session 01 Design Thinking &amp; Critical Thinking</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Mahesh Kurhe</dc:creator>
  <cp:lastModifiedBy>Tushar Mukherjee</cp:lastModifiedBy>
  <cp:revision>5</cp:revision>
  <dcterms:created xsi:type="dcterms:W3CDTF">2024-12-31T09:40:01Z</dcterms:created>
  <dcterms:modified xsi:type="dcterms:W3CDTF">2025-07-08T10:37:57Z</dcterms:modified>
</cp:coreProperties>
</file>